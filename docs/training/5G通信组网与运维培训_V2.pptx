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  <Relationship Id="rId2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用大约五十分钟，沿着一条真实业务报文理解我们的五G网络。先从手机或电脑下挂的Wi-Fi网络出发，看它怎样进入模拟终端、经过基站，再选择核心网或者边缘出口；随后再看部署和排障。希望大家最后能回答三个问题：报文走哪里，地址在哪一跳改变，遇到异常下一条该看什么证据。PPT页面只保留主线，详细解释放在这些备注里；图上的文字、节点和连线都是可编辑对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先顺着主线从左往右看。手机和电脑通过Wi-Fi AP或者路由器，接到自研模拟UE的LAN，再通过终端协议栈进入基站。这一段下挂网络能力来自自研模拟UE的增强，不能直接套到任意商用手机。商用终端是另一种UE接入方式，可以直接通过无线接入基站。</a:t>
            </a:r>
          </a:p>
          <a:p>
            <a:pPr/>
            <a:endParaRPr lang="zh-CN" dirty="0"/>
          </a:p>
          <a:p>
            <a:pPr/>
            <a:r>
              <a:rPr lang="zh-CN" dirty="0"/>
              <a:t>到了基站之后，上方的N2控制连接走Linux内核，通过SCTP与核心网AMF交互，SMF负责会话控制，N4控制UPF。用户面则有两类去向：一类经N3的GTP-U隧道到UPF，再经N6到外部DN；另一类由基站直接交给边缘DN。边缘绕行只改变用户面路径，接入和会话控制仍需要核心网。基站的N3和边缘流量共用同一个用户面VF，用地址、路由和分流逻辑区分。图上的双箭头表示双向通信，后面会逐条解释上下行。先让大家指一下：外部DN和边缘DN各自从哪里进入基站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把上一页拆成两层。控制面解决谁可以接入、建立怎样的会话等问题，基站的N2使用Linux内核SCTP；NGAP常用服务端口是38412。核心网的SMF通过N4的PFCP控制UPF，常用UDP端口是8805。</a:t>
            </a:r>
          </a:p>
          <a:p>
            <a:pPr/>
            <a:endParaRPr lang="zh-CN" dirty="0"/>
          </a:p>
          <a:p>
            <a:pPr/>
            <a:r>
              <a:rPr lang="zh-CN" dirty="0"/>
              <a:t>用户面承载真正的应用数据。在我们的高速路径里，VF由VPP和DPDK在用户态收发，N3常用UDP的2152端口承载GTP-U。UPF负责会话规则和隧道语义，VPP提供高速I/O、路由及相关NAT。这些不是同一个职责。边缘分支直接收发普通业务IP。不要看到Pod使用hostNetwork，就认为所有VF报文都经过Linux内核；同一台服务器上可以并行存在这两套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第一种，每端一个物理口接同一个交换机，控制面和用户面共享链路带宽及故障点。物理口可以由PF管理主机流量，同时给用户态派生VF，但VF不会增加物理线速。</a:t>
            </a:r>
          </a:p>
          <a:p>
            <a:pPr/>
            <a:endParaRPr lang="zh-CN" dirty="0"/>
          </a:p>
          <a:p>
            <a:pPr/>
            <a:r>
              <a:rPr lang="zh-CN" dirty="0"/>
              <a:t>第二种，每端两个物理口接同一个交换机。图中网口1与3承载控制面，网口2与4承载用户面，分别使用192.168.1.0和192.168.2.0这两个二十四位网段。把IP配成不同网段，不会自动形成不同的二层广播域，需要时还要在交换机配置VLAN。</a:t>
            </a:r>
          </a:p>
          <a:p>
            <a:pPr/>
            <a:endParaRPr lang="zh-CN" dirty="0"/>
          </a:p>
          <a:p>
            <a:pPr/>
            <a:r>
              <a:rPr lang="zh-CN" dirty="0"/>
              <a:t>第三种，把控制面十G和用户面一百G交换机分开，获得更明确的物理隔离，但每条路径依旧可能是单链路，不能由此宣称已有冗余。三种都是设计模型，DN还需要接入用户面交换网络或其可达的三层路由器；它们不是对当前X710服务器一百G吞吐的实测结论。软件中的N2、N3和边缘角色不会因布线方式改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教学地址看一条UE发往外部DN的上行。业务源地址是10.45.0.2，目的地址是198.51.100.10。基站在外面加上外层IP、UDP和GTP-U头，外层源是基站的192.168.2.10，目的为UPF的192.168.2.20。GTP-U里的TEID标识对应隧道，UPF解封装后得到的内层业务包仍是原来的源和目的。</a:t>
            </a:r>
          </a:p>
          <a:p>
            <a:pPr/>
            <a:endParaRPr lang="zh-CN" dirty="0"/>
          </a:p>
          <a:p>
            <a:pPr/>
            <a:r>
              <a:rPr lang="zh-CN" dirty="0"/>
              <a:t>封装和NAT是两个不同动作。加外层不等于把UE业务源改成基站IP；业务源是否进一步改变，要看出口NAT。下行按相反顺序封装回基站，但下行TEID按对应会话配置，不能假设与上行相同。额外封装还有MTU开销，扩展头也可能增加长度，所以小包通、大包异常时应继续查路径MTU。图中地址只为教学，不是给当前服务器直接添加的配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看基站内部的判断。假设业务目的203.0.113.10落在配置的203.0.113.0二十四位边缘网段里，基站就不增加GTP-U头，而是把普通业务IP交给边缘memif和VPP路径。没有命中时，业务继续走核心网N3和UPF。</a:t>
            </a:r>
          </a:p>
          <a:p>
            <a:pPr/>
            <a:endParaRPr lang="zh-CN" dirty="0"/>
          </a:p>
          <a:p>
            <a:pPr/>
            <a:r>
              <a:rPr lang="zh-CN" dirty="0"/>
              <a:t>这两路共用基站的用户面VF，不能从这张逻辑分支图推断已经分配了两张独立网卡。N2控制连接仍然存在。下行要结合NAT状态或者路由和会话映射找回正确UE，不能只配上行CIDR就推断端到端完成。这里解释的是用户提供的自研增强；三个函数片段展示了VPP接口和规则配置，没有展示完整分流调用链及下行匹配实现。可以请大家用一个目的IP，判断它应当进入哪条分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样是UE的10.45.0.2访问DN，动态NAT模式会把出口报文源转换为核心N6的198.51.100.1。DN回复这个出口地址，VPP再按已有连接映射逆转换，交回UE方向。源端口可能保留，也可能重新分配；动态NAT能正确处理这条连接的回复，不等于外部可以主动访问任意UE服务。</a:t>
            </a:r>
          </a:p>
          <a:p>
            <a:pPr/>
            <a:endParaRPr lang="zh-CN" dirty="0"/>
          </a:p>
          <a:p>
            <a:pPr/>
            <a:r>
              <a:rPr lang="zh-CN" dirty="0"/>
              <a:t>路由模式不做这层源转换，DN看到的源仍是10.45.0.2，因此DN或者上游路由器必须知道UE网段要经198.51.100.1返回。出口、VPP、UPF和会话规则也都需要匹配。边缘出口的机制相同，只是对应基站出口203.0.113.1。最后提醒，关闭核心或者基站出口NAT，并不自动关闭模拟UE的LAN NAT；不同层要分别看。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手机地址192.168.40.10，网关指向模拟UE的192.168.40.1，掩码为二十二位。Wi-Fi AP工作在桥接模式，不做源转换。报文进入模拟UE的LAN接口后，由UE侧NAT把源改成PDU会话地址10.45.0.2，再交给终端协议栈走基站网络。所给UspLbLinkVppMemifSessionCreate函数中，这一层是LAN的dpdk口为inside，朝终端协议栈的memif为outside。inside和outside是相对每个NAT实例说的。</a:t>
            </a:r>
          </a:p>
          <a:p>
            <a:pPr/>
            <a:endParaRPr lang="zh-CN" dirty="0"/>
          </a:p>
          <a:p>
            <a:pPr/>
            <a:r>
              <a:rPr lang="zh-CN" dirty="0"/>
              <a:t>经核心网且N6 NAT开启时，外部DN最终看到198.51.100.1；命中边缘且基站NAT开启时，边缘DN看到203.0.113.1。如果最后一级采用路由模式，DN看到的是UE地址10.45.0.2。回包先逆最终出口NAT，再逆UE NAT，最后回到192.168.40.10。函数没有提供DHCP和DNS服务，需要另外安排。可以在图上逐跳指出源地址第一次和第二次变化的位置。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如果Wi-Fi设备使用WAN路由模式，手机在192.168.50.0二十四位LAN里，网关是Wi-Fi路由器的192.168.50.1。路由器WAN接到模拟UE的LAN，使用192.168.40.2二十二位地址，网关192.168.40.1，两侧网段不能重叠。</a:t>
            </a:r>
          </a:p>
          <a:p>
            <a:pPr/>
            <a:endParaRPr lang="zh-CN" dirty="0"/>
          </a:p>
          <a:p>
            <a:pPr/>
            <a:r>
              <a:rPr lang="zh-CN" dirty="0"/>
              <a:t>上行源先从手机的192.168.50.10转换为Wi-Fi WAN地址192.168.40.2，再由模拟UE转成10.45.0.2，最后可能由核心N6转成198.51.100.1。访问边缘时，把最后一级换成基站边缘出口；最终出口为路由模式时，就少这一级转换。目的DN地址在这个例子里保持不变，各层源端口可能变化。下行沿图上的相反方向逐层还原目的地址，每一层都需要正确状态和回程。三层NAT会让外部主动访问下挂设备更复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当前项目双memif上行路径是：N3 VF进入VPP，经memif2/0交给Open5GS UPF，UPF依据规则解封装，再通过memif1/0把内层业务IP交还VPP，由N6 VF送到DN。图中下面只有同一个VPP进程，上方是独立UPF进程。N3 memif传递含UDP和GTP-U的外层IP报文，N6 memif传递解封装后的普通业务IP，二者都使用IP模式。</a:t>
            </a:r>
          </a:p>
          <a:p>
            <a:pPr/>
            <a:endParaRPr lang="zh-CN" dirty="0"/>
          </a:p>
          <a:p>
            <a:pPr/>
            <a:r>
              <a:rPr lang="zh-CN" dirty="0"/>
              <a:t>memif是同主机共享内存接口，不是物理线缆或跨服务器隧道。当前运行快照里UPF通告N3地址10.2.0.230，VPP N3接口是10.2.0.231，通过代理ARP和目的地址的三十二位路由把报文送给UPF，两者不能交换。页面为避免拥挤没有列出全部真实地址。</a:t>
            </a:r>
          </a:p>
          <a:p>
            <a:pPr/>
            <a:endParaRPr lang="zh-CN" dirty="0"/>
          </a:p>
          <a:p>
            <a:pPr/>
            <a:r>
              <a:rPr lang="zh-CN" dirty="0"/>
              <a:t>TUN模式则是Linux UDP进入UPF，解封装后写入ogstun，再走Linux路由和NAT。当前Chart的TUN初始化添加MASQUERADE，VPP的NAT开关不控制它。以上依据当前仓库的Chart和UPF收发实现；看到ogstun接口存在，不足以认定它就是正在使用的数据路径。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网络可用需要一个闭环。去程能到DN，但DN不知道怎样返回UE，也会表现为业务不通。路由模式特别需要核对DN或者上游的UE回程路由；NAT模式也仍需出口可达、邻居正常和映射有效。</a:t>
            </a:r>
          </a:p>
          <a:p>
            <a:pPr/>
            <a:endParaRPr lang="zh-CN" dirty="0"/>
          </a:p>
          <a:p>
            <a:pPr/>
            <a:r>
              <a:rPr lang="zh-CN" dirty="0"/>
              <a:t>Linux转发路径用ip route get查看指定目的的实际选路，再用ip rule看是否有策略规则；必要时在真正转发的主机或者网络命名空间查询。由VPP管理的VF路径，则看该VPP实例的show ip fib和相关VRF。修改Linux路由不会自动修改VPP的表，开启Linux的ip_forward也不会代替VPP自己的转发配置。先辨认报文在哪套协议栈里，再选命令。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交付物看，镜像是应用和依赖的包，仓库可以使用Harbor，Docker可以在构建和调试时使用。本次不展开仓库操作。Chart和values经过Helm渲染为Kubernetes清单，Deployment维护期望副本，控制器和节点把Pod里的容器启动起来，节点的containerd执行具体容器操作。</a:t>
            </a:r>
          </a:p>
          <a:p>
            <a:pPr/>
            <a:endParaRPr lang="zh-CN" dirty="0"/>
          </a:p>
          <a:p>
            <a:pPr/>
            <a:r>
              <a:rPr lang="zh-CN" dirty="0"/>
              <a:t>Pod是Kubernetes最小调度单元，可以包含UPF、VPP等多个容器。Helm不负责制作镜像，镜像仓库也不负责选择节点。普通Pod网络的接入主要看CNI；高速VF的发现和分配主要看设备插件，业务报文再交给VPP。当前集群存在Calico和Multus，不意味着所有高速流量都经过主CNI。Docker本地能看到某镜像，也不能直接证明Kubernetes的containerd里已有这个镜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这三个动作在已经准备好的实验环境里执行，位置是Open5GS仓库根目录。第一步用helm template和lab-values.yaml渲染到临时文件，先核对地址、镜像、资源请求和网络模式。第二步使用helm upgrade加install安装或者更新Release，必要时创建Namespace；这一步会修改对应资源。第三步用kubectl看Pod状态和所在节点，不能把Helm命令返回成功当成全部业务已就绪。</a:t>
            </a:r>
          </a:p>
          <a:p>
            <a:pPr/>
            <a:endParaRPr lang="zh-CN" dirty="0"/>
          </a:p>
          <a:p>
            <a:pPr/>
            <a:r>
              <a:rPr lang="zh-CN" dirty="0"/>
              <a:t>lab-values.yaml是需要按实验准备的参数文件，不是本PPT自动生成的文件。XCN可能使用主机网络和固定端口，换一个Namespace不能自动消除地址、端口或VF冲突。实际发布前要清楚目标Release和参数；异常时先看状态、事件和日志。今天重点是这个顺序，不要求记住每一个覆盖参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先执行get pods，确认Namespace、Pod名称、READY、STATUS和节点。再对具体Pod执行describe，从Events判断是调度、镜像、卷挂载还是探针等问题。Pod都还没启动时，没有应用日志可看，应该先停留在事件这一层。</a:t>
            </a:r>
          </a:p>
          <a:p>
            <a:pPr/>
            <a:endParaRPr lang="zh-CN" dirty="0"/>
          </a:p>
          <a:p>
            <a:pPr/>
            <a:r>
              <a:rPr lang="zh-CN" dirty="0"/>
              <a:t>进入应用问题后，使用logs并通过负c参数指定upf等目标容器，tail只取最近部分，避免无关输出淹没错误。CrashLoop场景尤其要看previous，它读取前一个已退出的容器实例；如果没有这样的历史实例，命令会报错。页面中的POD是占位符，需要替换成实际名称。一个Pod多个容器时，不要把VPP和UPF日志混在一起推断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ending表示当前还没有正常进入预期运行阶段，先用Events确认是否资源不足、节点选择、PVC或者其他调度与准备条件未满足。ImagePullBackOff优先核对镜像引用、tag、凭据和节点到仓库的连通性，事件通常会给出具体原因。CrashLoopBackOff说明容器反复退出，先看当前及previous日志，再核对启动参数、配置和依赖。</a:t>
            </a:r>
          </a:p>
          <a:p>
            <a:pPr/>
            <a:endParaRPr lang="zh-CN" dirty="0"/>
          </a:p>
          <a:p>
            <a:pPr/>
            <a:r>
              <a:rPr lang="zh-CN" dirty="0"/>
              <a:t>Running但READY为零，也要看Readiness探针、应用监听地址、端口和配置。多容器Pod的READY分母按实际容器数量显示，图里的零比一只是单容器状态示例。这些状态是选择证据的入口，不是直接的根因。即使Pod已经Ready，N3、UE会话、NAT回程和DN应用仍可能异常，所以不能把重装当第一步，也不能把Running当端到端验收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这是教学案例，不是在报告当前服务器发生故障。假设Events明确提示Insufficient intel.com/external_network，就从这个资源名向下追。先看Pod到底请求哪个扩展资源、请求几个，是否和设备插件发布的名称一致；再看目标节点的allocatable；最后看已有Pod已经分配的requests以及节点上的其他调度条件。</a:t>
            </a:r>
          </a:p>
          <a:p>
            <a:pPr/>
            <a:endParaRPr lang="zh-CN" dirty="0"/>
          </a:p>
          <a:p>
            <a:pPr/>
            <a:r>
              <a:rPr lang="zh-CN" dirty="0"/>
              <a:t>kubectl describe node可以同时看到节点资源与已分配请求的汇总。allocatable是可分配上限，不是实时空闲设备数，不能看到十二就说还剩十二个VF。还要结合设备健康和已占用情况。CPU资源不足也可以沿类似思路检查。修改请求数量之前，先确保该工作负载确实能够用减少后的设备布局运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k9s是终端里的交互入口，Kuboard是Web入口，背后仍是同一组Kubernetes对象。先选对Namespace和工作负载，找到Pod，再看Events和Logs；需要时继续查看YAML、资源请求与配置来源。界面不会改变排障顺序。</a:t>
            </a:r>
          </a:p>
          <a:p>
            <a:pPr/>
            <a:endParaRPr lang="zh-CN" dirty="0"/>
          </a:p>
          <a:p>
            <a:pPr/>
            <a:r>
              <a:rPr lang="zh-CN" dirty="0"/>
              <a:t>课堂上k9s先用readonly进入，按问号查看当前视图的帮助，日志里要选择正确容器。Kuboard这里展示的是通用工作流，没有虚构本机登录地址和实际截图。两种工具的操作都受RBAC限制；Helm管理的配置最终应落实到Chart或values，避免下次发布覆盖临时界面修改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NFVI提供计算、内存和网络等基础资源，网络功能可以直接以容器运行在裸机Linux上。参考服务器在2026年10月25日的快照是七十二个物理核、一百四十四个逻辑CPU，两个NUMA节点，隔离池包含一百二十六个逻辑CPU。两个超线程共享部分物理执行资源，不能把逻辑CPU数当成独立物理核数。隔离配置也不代表这些CPU绝不执行系统活动。</a:t>
            </a:r>
          </a:p>
          <a:p>
            <a:pPr/>
            <a:endParaRPr lang="zh-CN" dirty="0"/>
          </a:p>
          <a:p>
            <a:pPr/>
            <a:r>
              <a:rPr lang="zh-CN" dirty="0"/>
              <a:t>右侧示意一个PF派生VF，设备插件把其中两个VF分配给XCN的VPP容器，分别承担N3和N6。PF实际可以有其他VF，所有VF仍共享PF的物理带宽。设备分配、CPU亲和性、大页和网卡NUMA位置要一起考虑。本机使用自研CPUSet平台分配，CPU的request或者limit相等不自动意味着线程绑到了指定物理核，仍需核对实际cgroup和线程亲和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参考服务器的网卡型号是X710十GbE，但2026年10月25日读取到ens5f0的活跃链路只有一Gbps、全双工、链路已建立。这是历史快照，培训当天应重新执行现场查询。ethtool负i查看驱动、型号相关信息和PCI位置；ethtool接口名查看Speed、Duplex和Link等状态。</a:t>
            </a:r>
          </a:p>
          <a:p>
            <a:pPr/>
            <a:endParaRPr lang="zh-CN" dirty="0"/>
          </a:p>
          <a:p>
            <a:pPr/>
            <a:r>
              <a:rPr lang="zh-CN" dirty="0"/>
              <a:t>网卡支持十G、链路当前协商一G、应用实际收到多少，是三个不同问题。还要核对模块、线缆、对端交换机、错误计数以及业务路径；本次没有据此断言是哪种原因造成了一G协商。即使链路线速足够，CPU、队列、NUMA、包长、MTU、丢包和QoS仍会限制吞吐。多个VF不会各自凭空获得一份独立PF带宽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位置固定：服务端在DN上，客户端在UE业务侧或其下挂电脑上。DN启动iperf3负s，客户端把DN_IP替换为真实可达的DN地址。TCP命令看可靠传输的有效吞吐和重传；UDP先按十Mbps、1200字节载荷验证，再逐步加速，并关注接收端的实际速率、丢包和抖动，不要只看发送目标值。</a:t>
            </a:r>
          </a:p>
          <a:p>
            <a:pPr/>
            <a:endParaRPr lang="zh-CN" dirty="0"/>
          </a:p>
          <a:p>
            <a:pPr/>
            <a:r>
              <a:rPr lang="zh-CN" dirty="0"/>
              <a:t>客户端命令追加负R会让DN发送业务数据，也就是下行，但控制连接仍由客户端发起，所以不证明DN可以任意主动连接NAT后的服务。iperf3的UDP测试也需要TCP控制连接。iperf2使用iperf命令，TCP服务端是iperf负s，UDP服务端需要再加负u；客户端TCP用iperf负c加DN地址，UDP再加负u、负b和负l，本机版本也支持负R。两种工具不是同一套线协议，默认端口分别是5001和5201，双方必须选对工具家族。</a:t>
            </a:r>
          </a:p>
          <a:p>
            <a:pPr/>
            <a:endParaRPr lang="zh-CN" dirty="0"/>
          </a:p>
          <a:p>
            <a:pPr/>
            <a:r>
              <a:rPr lang="zh-CN" dirty="0"/>
              <a:t>如果UE业务IP只属于VPP，不能随意让Linux应用绑定它；在下挂电脑运行iperf通常更容易确定真实路径。每次测试记录位置、方向、协议、速率、包长和时长；这些命令是测试方法，没有在PPT中编造五G端到端吞吐。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五站是排障检查顺序，不是把报文处理模块重新排序。先确认Pod和配置，再看PF、VF链路、MAC和邻居；接着确认终端接入和PDU会话；然后站在真正转发的Linux或者VPP实例检查去回路由与NAT；最后看DN监听和应用端口。发现第一处与预期不同的地方，就先留在那层取证和修复，再复验，不要直接跳到重新分配网卡或加CPU。</a:t>
            </a:r>
          </a:p>
          <a:p>
            <a:pPr/>
            <a:endParaRPr lang="zh-CN" dirty="0"/>
          </a:p>
          <a:p>
            <a:pPr/>
            <a:r>
              <a:rPr lang="zh-CN" dirty="0"/>
              <a:t>连通以后再谈性能，继续看协商速率、MTU、CPU、NUMA和QoS。ping正常只说明某种ICMP路径可达，不证明TCP、UDP、应用监听和大包都正常。已有环境还可能使用透明代理，遇到ICMP正常而应用异常时，结合目标路由、显式与透明代理配置判断，不应直接清空防火墙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三个问题结束并留出问答。第一，命中边缘CIDR的业务不经过核心UPF，而由基站直接走边缘路径；但接入与会话控制仍依赖核心网。第二，AP桥接下手机地址先被模拟UE转换为会话地址，如果最终出口再做NAT，核心DN看到核心N6地址，边缘DN看到基站边缘出口地址；如果最终出口是路由模式，DN看到UE会话地址。不能仅凭AP桥接就说手机原地址一直保留到DN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第三，Pod Pending先看describe中的Events，沿调度、资源、卷等证据定位，不是先找还没启动的应用日志。请大家再从缩略图指认两条用户面，并选择自己工作中最可能先用到的一条查询命令。记住主线：先认路径，再看地址，最后选择下一条取证命令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xcn_training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xcn_training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label"/>
          <p:cNvGrpSpPr/>
          <p:nvPr/>
        </p:nvGrpSpPr>
        <p:grpSpPr>
          <a:xfrm>
            <a:off x="449580" y="508000"/>
            <a:ext cx="2611374" cy="293370"/>
            <a:chOff x="449580" y="508000"/>
            <a:chExt cx="2611374" cy="29337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08000"/>
              <a:ext cx="2611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5G 通信组网与运维培训 · V2</a:t>
              </a:r>
            </a:p>
          </p:txBody>
        </p:sp>
      </p:grpSp>
      <p:grpSp>
        <p:nvGrpSpPr>
          <p:cNvPr id="6" name="cover-hook"/>
          <p:cNvGrpSpPr/>
          <p:nvPr/>
        </p:nvGrpSpPr>
        <p:grpSpPr>
          <a:xfrm>
            <a:off x="438150" y="1577975"/>
            <a:ext cx="3430524" cy="2247900"/>
            <a:chOff x="438150" y="1577975"/>
            <a:chExt cx="3430524" cy="2247900"/>
          </a:xfrm>
        </p:grpSpPr>
        <p:sp>
          <p:nvSpPr>
            <p:cNvPr id="4" name="TextBox 4"/>
            <p:cNvSpPr txBox="1"/>
            <p:nvPr/>
          </p:nvSpPr>
          <p:spPr>
            <a:xfrm>
              <a:off x="438150" y="1577975"/>
              <a:ext cx="34305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一条报文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8150" y="2606675"/>
              <a:ext cx="34305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两条出口</a:t>
              </a:r>
            </a:p>
          </p:txBody>
        </p:sp>
      </p:grpSp>
      <p:grpSp>
        <p:nvGrpSpPr>
          <p:cNvPr id="8" name="cover-context"/>
          <p:cNvGrpSpPr/>
          <p:nvPr/>
        </p:nvGrpSpPr>
        <p:grpSpPr>
          <a:xfrm>
            <a:off x="446532" y="4181475"/>
            <a:ext cx="3528441" cy="867918"/>
            <a:chOff x="446532" y="4181475"/>
            <a:chExt cx="3528441" cy="867918"/>
          </a:xfrm>
        </p:grpSpPr>
        <p:sp>
          <p:nvSpPr>
            <p:cNvPr id="7" name="TextBox 7"/>
            <p:cNvSpPr txBox="1"/>
            <p:nvPr/>
          </p:nvSpPr>
          <p:spPr>
            <a:xfrm>
              <a:off x="446532" y="4181475"/>
              <a:ext cx="352844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从下挂 Wi-Fi 出发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看懂组网、IP 变化与部署排障</a:t>
              </a:r>
            </a:p>
          </p:txBody>
        </p:sp>
      </p:grpSp>
      <p:grpSp>
        <p:nvGrpSpPr>
          <p:cNvPr id="26" name="cover-routes"/>
          <p:cNvGrpSpPr/>
          <p:nvPr/>
        </p:nvGrpSpPr>
        <p:grpSpPr>
          <a:xfrm>
            <a:off x="7143750" y="1762125"/>
            <a:ext cx="4591050" cy="3133725"/>
            <a:chOff x="7143750" y="1762125"/>
            <a:chExt cx="4591050" cy="3133725"/>
          </a:xfrm>
        </p:grpSpPr>
        <p:sp>
          <p:nvSpPr>
            <p:cNvPr id="9" name="Line 9"/>
            <p:cNvSpPr/>
            <p:nvPr/>
          </p:nvSpPr>
          <p:spPr>
            <a:xfrm>
              <a:off x="8458200" y="3238500"/>
              <a:ext cx="4000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10144125" y="31432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287000" y="2171700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9715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287000" y="2171700"/>
              <a:ext cx="1905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10144125" y="333375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287000" y="33337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87000" y="4476750"/>
              <a:ext cx="1905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0" y="2857500"/>
              <a:ext cx="1314450" cy="762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9515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58250" y="2857500"/>
              <a:ext cx="1285875" cy="762000"/>
            </a:xfrm>
            <a:prstGeom prst="roundRect">
              <a:avLst>
                <a:gd name="adj" fmla="val 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4965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基站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477500" y="1762125"/>
              <a:ext cx="1257300" cy="828675"/>
            </a:xfrm>
            <a:prstGeom prst="roundRect">
              <a:avLst>
                <a:gd name="adj" fmla="val 689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75468" y="1889125"/>
              <a:ext cx="861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外部 DN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35818" y="2235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经核心网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77500" y="4067175"/>
              <a:ext cx="1257300" cy="828675"/>
            </a:xfrm>
            <a:prstGeom prst="roundRect">
              <a:avLst>
                <a:gd name="adj" fmla="val 6897"/>
              </a:avLst>
            </a:prstGeom>
            <a:solidFill>
              <a:srgbClr val="E7F4E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675468" y="4194175"/>
              <a:ext cx="861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边缘 DN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35818" y="45402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基站直达</a:t>
              </a:r>
            </a:p>
          </p:txBody>
        </p:sp>
      </p:grpSp>
      <p:grpSp>
        <p:nvGrpSpPr>
          <p:cNvPr id="29" name="cover-footer"/>
          <p:cNvGrpSpPr/>
          <p:nvPr/>
        </p:nvGrpSpPr>
        <p:grpSpPr>
          <a:xfrm>
            <a:off x="451866" y="6397625"/>
            <a:ext cx="11288268" cy="205359"/>
            <a:chOff x="451866" y="6397625"/>
            <a:chExt cx="112882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451866" y="6397625"/>
              <a:ext cx="3883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 页 · 约 50 分钟（含问答） · 架构图、文字与连线均可编辑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940" y="63976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622465" cy="586740"/>
            <a:chOff x="441960" y="393700"/>
            <a:chExt cx="5622465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62246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先看全貌：从 Wi-Fi 到两类 DN</a:t>
              </a:r>
            </a:p>
          </p:txBody>
        </p:sp>
      </p:grpSp>
      <p:grpSp>
        <p:nvGrpSpPr>
          <p:cNvPr id="8" name="legend"/>
          <p:cNvGrpSpPr/>
          <p:nvPr/>
        </p:nvGrpSpPr>
        <p:grpSpPr>
          <a:xfrm>
            <a:off x="449580" y="1203325"/>
            <a:ext cx="9376410" cy="293370"/>
            <a:chOff x="449580" y="1203325"/>
            <a:chExt cx="9376410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449580" y="120332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蓝 · 经核心网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54630" y="120332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绿 · 直达边缘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35880" y="120332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D6818"/>
                  </a:solidFill>
                  <a:latin typeface="+mn-lt"/>
                  <a:ea typeface="+mn-ea"/>
                  <a:cs typeface="+mn-cs"/>
                </a:rPr>
                <a:t>橙 · 控制面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93380" y="1203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双箭头表示双向通信</a:t>
              </a:r>
            </a:p>
          </p:txBody>
        </p:sp>
      </p:grpSp>
      <p:grpSp>
        <p:nvGrpSpPr>
          <p:cNvPr id="64" name="end-to-end-system"/>
          <p:cNvGrpSpPr/>
          <p:nvPr/>
        </p:nvGrpSpPr>
        <p:grpSpPr>
          <a:xfrm>
            <a:off x="448056" y="1762125"/>
            <a:ext cx="11286744" cy="4267200"/>
            <a:chOff x="448056" y="1762125"/>
            <a:chExt cx="11286744" cy="4267200"/>
          </a:xfrm>
        </p:grpSpPr>
        <p:grpSp>
          <p:nvGrpSpPr>
            <p:cNvPr id="11" name="core-boundary"/>
            <p:cNvGrpSpPr/>
            <p:nvPr/>
          </p:nvGrpSpPr>
          <p:grpSpPr>
            <a:xfrm>
              <a:off x="7810500" y="1762125"/>
              <a:ext cx="2095500" cy="3257550"/>
              <a:chOff x="7810500" y="1762125"/>
              <a:chExt cx="2095500" cy="3257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810500" y="1762125"/>
                <a:ext cx="2095500" cy="3257550"/>
              </a:xfrm>
              <a:prstGeom prst="roundRect">
                <a:avLst>
                  <a:gd name="adj" fmla="val 2727"/>
                </a:avLst>
              </a:prstGeom>
              <a:solidFill>
                <a:schemeClr val="lt2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91856" y="187960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核心网</a:t>
                </a:r>
              </a:p>
            </p:txBody>
          </p:sp>
        </p:grpSp>
        <p:grpSp>
          <p:nvGrpSpPr>
            <p:cNvPr id="27" name="data-links"/>
            <p:cNvGrpSpPr/>
            <p:nvPr/>
          </p:nvGrpSpPr>
          <p:grpSpPr>
            <a:xfrm>
              <a:off x="1790700" y="2349500"/>
              <a:ext cx="8496300" cy="3308351"/>
              <a:chOff x="1790700" y="2349500"/>
              <a:chExt cx="8496300" cy="3308351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1790700" y="3857625"/>
                <a:ext cx="304800" cy="1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429000" y="3857625"/>
                <a:ext cx="304800" cy="1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124450" y="3857625"/>
                <a:ext cx="457200" cy="1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7067550" y="3857625"/>
                <a:ext cx="1028700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298817" y="3482975"/>
                <a:ext cx="224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N3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9620250" y="4076700"/>
                <a:ext cx="666750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784842" y="3721100"/>
                <a:ext cx="224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N6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067550" y="4191000"/>
                <a:ext cx="409575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headEnd type="triangle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7477125" y="4191000"/>
                <a:ext cx="9525" cy="1466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66850">
                    <a:moveTo>
                      <a:pt x="0" y="0"/>
                    </a:moveTo>
                    <a:lnTo>
                      <a:pt x="0" y="146685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7477125" y="5657850"/>
                <a:ext cx="619125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2" name="Line 22"/>
              <p:cNvSpPr/>
              <p:nvPr/>
            </p:nvSpPr>
            <p:spPr>
              <a:xfrm flipV="1">
                <a:off x="6334125" y="2743200"/>
                <a:ext cx="1" cy="590550"/>
              </a:xfrm>
              <a:prstGeom prst="line">
                <a:avLst/>
              </a:prstGeom>
              <a:noFill/>
              <a:ln w="28575">
                <a:solidFill>
                  <a:srgbClr val="AD6818"/>
                </a:solidFill>
                <a:headEnd type="triangle" w="lg" len="lg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6334125" y="2743200"/>
                <a:ext cx="1762125" cy="1"/>
              </a:xfrm>
              <a:prstGeom prst="line">
                <a:avLst/>
              </a:prstGeom>
              <a:noFill/>
              <a:ln w="28575">
                <a:solidFill>
                  <a:srgbClr val="AD6818"/>
                </a:solidFill>
                <a:tailEnd type="triangle" w="lg" len="lg"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527292" y="2349500"/>
                <a:ext cx="868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D6818"/>
                    </a:solidFill>
                    <a:latin typeface="+mn-lt"/>
                    <a:ea typeface="+mn-ea"/>
                    <a:cs typeface="+mn-cs"/>
                  </a:rPr>
                  <a:t>N2 · SCTP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858250" y="3105150"/>
                <a:ext cx="9525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0550">
                    <a:moveTo>
                      <a:pt x="0" y="0"/>
                    </a:moveTo>
                    <a:lnTo>
                      <a:pt x="0" y="590550"/>
                    </a:lnTo>
                  </a:path>
                </a:pathLst>
              </a:custGeom>
              <a:noFill/>
              <a:ln w="19050">
                <a:solidFill>
                  <a:srgbClr val="AD6818"/>
                </a:solidFill>
                <a:custDash>
                  <a:ds d="300000" sp="200000"/>
                </a:custDash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994267" y="3311525"/>
                <a:ext cx="224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D6818"/>
                    </a:solidFill>
                    <a:latin typeface="+mn-lt"/>
                    <a:ea typeface="+mn-ea"/>
                    <a:cs typeface="+mn-cs"/>
                  </a:rPr>
                  <a:t>N4</a:t>
                </a:r>
              </a:p>
            </p:txBody>
          </p:sp>
        </p:grpSp>
        <p:grpSp>
          <p:nvGrpSpPr>
            <p:cNvPr id="34" name="wifi-network"/>
            <p:cNvGrpSpPr/>
            <p:nvPr/>
          </p:nvGrpSpPr>
          <p:grpSpPr>
            <a:xfrm>
              <a:off x="457200" y="3333750"/>
              <a:ext cx="2971800" cy="1047750"/>
              <a:chOff x="457200" y="3333750"/>
              <a:chExt cx="2971800" cy="1047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57200" y="3333750"/>
                <a:ext cx="1333500" cy="1047750"/>
              </a:xfrm>
              <a:prstGeom prst="roundRect">
                <a:avLst>
                  <a:gd name="adj" fmla="val 54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90842" y="3527425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手机 / 电脑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53618" y="39211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下挂网络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2095500" y="3333750"/>
                <a:ext cx="1333500" cy="1047750"/>
              </a:xfrm>
              <a:prstGeom prst="roundRect">
                <a:avLst>
                  <a:gd name="adj" fmla="val 54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447868" y="3514725"/>
                <a:ext cx="628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Wi-Fi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266760" y="3921125"/>
                <a:ext cx="9909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AP / 路由器</a:t>
                </a:r>
              </a:p>
            </p:txBody>
          </p:sp>
        </p:grpSp>
        <p:grpSp>
          <p:nvGrpSpPr>
            <p:cNvPr id="41" name="ue-and-gnb"/>
            <p:cNvGrpSpPr/>
            <p:nvPr/>
          </p:nvGrpSpPr>
          <p:grpSpPr>
            <a:xfrm>
              <a:off x="3733800" y="3333750"/>
              <a:ext cx="3333750" cy="1047750"/>
              <a:chOff x="3733800" y="3333750"/>
              <a:chExt cx="3333750" cy="1047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733800" y="3333750"/>
                <a:ext cx="1390650" cy="1047750"/>
              </a:xfrm>
              <a:prstGeom prst="roundRect">
                <a:avLst>
                  <a:gd name="adj" fmla="val 5455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998443" y="3527425"/>
                <a:ext cx="8613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模拟 UE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893322" y="3921125"/>
                <a:ext cx="10716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TUN / memif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5581650" y="3333750"/>
                <a:ext cx="1485900" cy="1047750"/>
              </a:xfrm>
              <a:prstGeom prst="roundRect">
                <a:avLst>
                  <a:gd name="adj" fmla="val 545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830824" y="352742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自研基站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62151" y="3921125"/>
                <a:ext cx="3248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gNB</a:t>
                </a:r>
              </a:p>
            </p:txBody>
          </p:sp>
        </p:grpSp>
        <p:grpSp>
          <p:nvGrpSpPr>
            <p:cNvPr id="48" name="core-actors"/>
            <p:cNvGrpSpPr/>
            <p:nvPr/>
          </p:nvGrpSpPr>
          <p:grpSpPr>
            <a:xfrm>
              <a:off x="8096250" y="2381250"/>
              <a:ext cx="1524000" cy="2076450"/>
              <a:chOff x="8096250" y="2381250"/>
              <a:chExt cx="1524000" cy="20764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096250" y="2381250"/>
                <a:ext cx="1524000" cy="723900"/>
              </a:xfrm>
              <a:prstGeom prst="roundRect">
                <a:avLst>
                  <a:gd name="adj" fmla="val 7895"/>
                </a:avLst>
              </a:prstGeom>
              <a:solidFill>
                <a:srgbClr val="FFF3E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228228" y="2476500"/>
                <a:ext cx="12600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AMF / SMF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15312" y="27971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AD6818"/>
                    </a:solidFill>
                    <a:latin typeface="+mn-lt"/>
                    <a:ea typeface="+mn-ea"/>
                    <a:cs typeface="+mn-cs"/>
                  </a:rPr>
                  <a:t>接入与会话控制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096250" y="3695700"/>
                <a:ext cx="15240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637880" y="3800475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UPF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578786" y="41402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用户面</a:t>
                </a:r>
              </a:p>
            </p:txBody>
          </p:sp>
        </p:grpSp>
        <p:grpSp>
          <p:nvGrpSpPr>
            <p:cNvPr id="55" name="dn-endpoints"/>
            <p:cNvGrpSpPr/>
            <p:nvPr/>
          </p:nvGrpSpPr>
          <p:grpSpPr>
            <a:xfrm>
              <a:off x="8096250" y="3695700"/>
              <a:ext cx="3638550" cy="2333625"/>
              <a:chOff x="8096250" y="3695700"/>
              <a:chExt cx="3638550" cy="2333625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10287000" y="3695700"/>
                <a:ext cx="14478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80218" y="3803650"/>
                <a:ext cx="8613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外部 DN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549700" y="4121150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核心网出口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8096250" y="5286375"/>
                <a:ext cx="15240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E7F4E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427568" y="5403850"/>
                <a:ext cx="8613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边缘 DN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87918" y="57308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基站直达</a:t>
                </a:r>
              </a:p>
            </p:txBody>
          </p:sp>
        </p:grpSp>
        <p:grpSp>
          <p:nvGrpSpPr>
            <p:cNvPr id="60" name="commercial-ue"/>
            <p:cNvGrpSpPr/>
            <p:nvPr/>
          </p:nvGrpSpPr>
          <p:grpSpPr>
            <a:xfrm>
              <a:off x="5619750" y="4381500"/>
              <a:ext cx="1428750" cy="1543050"/>
              <a:chOff x="5619750" y="4381500"/>
              <a:chExt cx="1428750" cy="1543050"/>
            </a:xfrm>
          </p:grpSpPr>
          <p:sp>
            <p:nvSpPr>
              <p:cNvPr id="56" name="Line 56"/>
              <p:cNvSpPr/>
              <p:nvPr/>
            </p:nvSpPr>
            <p:spPr>
              <a:xfrm>
                <a:off x="6324600" y="4381500"/>
                <a:ext cx="9525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0">
                    <a:moveTo>
                      <a:pt x="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19050">
                <a:solidFill>
                  <a:srgbClr val="617487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5619750" y="5238750"/>
                <a:ext cx="1428750" cy="685800"/>
              </a:xfrm>
              <a:prstGeom prst="roundRect">
                <a:avLst>
                  <a:gd name="adj" fmla="val 8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840349" y="53086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商用终端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709704" y="5616575"/>
                <a:ext cx="12488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另一种 UE 接入</a:t>
                </a:r>
              </a:p>
            </p:txBody>
          </p:sp>
        </p:grpSp>
        <p:grpSp>
          <p:nvGrpSpPr>
            <p:cNvPr id="63" name="scope-note"/>
            <p:cNvGrpSpPr/>
            <p:nvPr/>
          </p:nvGrpSpPr>
          <p:grpSpPr>
            <a:xfrm>
              <a:off x="448056" y="4864100"/>
              <a:ext cx="3832479" cy="1121283"/>
              <a:chOff x="448056" y="4864100"/>
              <a:chExt cx="3832479" cy="1121283"/>
            </a:xfrm>
          </p:grpSpPr>
          <p:sp>
            <p:nvSpPr>
              <p:cNvPr id="61" name="TextBox 61"/>
              <p:cNvSpPr txBox="1"/>
              <p:nvPr/>
            </p:nvSpPr>
            <p:spPr>
              <a:xfrm>
                <a:off x="448056" y="4864100"/>
                <a:ext cx="2167128" cy="723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基站 N3 与边缘分支</a:t>
                </a:r>
                <a:b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共用同一个用户面 VF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50342" y="5721350"/>
                <a:ext cx="3830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边缘绕行只改变用户面，控制面仍连接核心网。</a:t>
                </a:r>
              </a:p>
            </p:txBody>
          </p:sp>
        </p:grpSp>
      </p:grpSp>
      <p:grpSp>
        <p:nvGrpSpPr>
          <p:cNvPr id="67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451866" y="6511925"/>
              <a:ext cx="30672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逻辑架构；Wi-Fi 下挂为自研模拟 UE 的增强能力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280660" cy="586740"/>
            <a:chOff x="441960" y="393700"/>
            <a:chExt cx="528066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控制面建会话，用户面送数据</a:t>
              </a:r>
            </a:p>
          </p:txBody>
        </p:sp>
      </p:grpSp>
      <p:grpSp>
        <p:nvGrpSpPr>
          <p:cNvPr id="38" name="plane-system"/>
          <p:cNvGrpSpPr/>
          <p:nvPr/>
        </p:nvGrpSpPr>
        <p:grpSpPr>
          <a:xfrm>
            <a:off x="457200" y="1714500"/>
            <a:ext cx="11277600" cy="4019550"/>
            <a:chOff x="457200" y="1714500"/>
            <a:chExt cx="11277600" cy="4019550"/>
          </a:xfrm>
        </p:grpSpPr>
        <p:grpSp>
          <p:nvGrpSpPr>
            <p:cNvPr id="6" name="ownership-lanes"/>
            <p:cNvGrpSpPr/>
            <p:nvPr/>
          </p:nvGrpSpPr>
          <p:grpSpPr>
            <a:xfrm>
              <a:off x="457200" y="1714500"/>
              <a:ext cx="11277600" cy="4019550"/>
              <a:chOff x="457200" y="1714500"/>
              <a:chExt cx="11277600" cy="40195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457200" y="1714500"/>
                <a:ext cx="11277600" cy="1524000"/>
              </a:xfrm>
              <a:prstGeom prst="rect">
                <a:avLst/>
              </a:prstGeom>
              <a:solidFill>
                <a:srgbClr val="FFF8EE"/>
              </a:solidFill>
              <a:ln>
                <a:noFill/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457200" y="3524250"/>
                <a:ext cx="11277600" cy="2209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1" name="lane-labels"/>
            <p:cNvGrpSpPr/>
            <p:nvPr/>
          </p:nvGrpSpPr>
          <p:grpSpPr>
            <a:xfrm>
              <a:off x="675132" y="2108200"/>
              <a:ext cx="1267739" cy="2647569"/>
              <a:chOff x="675132" y="2108200"/>
              <a:chExt cx="1267739" cy="264756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75132" y="2108200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AD6818"/>
                    </a:solidFill>
                    <a:latin typeface="+mn-lt"/>
                    <a:ea typeface="+mn-ea"/>
                    <a:cs typeface="+mn-cs"/>
                  </a:rPr>
                  <a:t>控制面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6656" y="254635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接入 / 会话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75132" y="3965575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用户面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6656" y="440372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应用报文</a:t>
                </a:r>
              </a:p>
            </p:txBody>
          </p:sp>
        </p:grpSp>
        <p:grpSp>
          <p:nvGrpSpPr>
            <p:cNvPr id="20" name="plane-links"/>
            <p:cNvGrpSpPr/>
            <p:nvPr/>
          </p:nvGrpSpPr>
          <p:grpSpPr>
            <a:xfrm>
              <a:off x="3524250" y="2095500"/>
              <a:ext cx="6290691" cy="3238501"/>
              <a:chOff x="3524250" y="2095500"/>
              <a:chExt cx="6290691" cy="3238501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4572000" y="2571750"/>
                <a:ext cx="3524250" cy="1"/>
              </a:xfrm>
              <a:prstGeom prst="line">
                <a:avLst/>
              </a:prstGeom>
              <a:noFill/>
              <a:ln w="38100">
                <a:solidFill>
                  <a:srgbClr val="AD6818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231130" y="2095500"/>
                <a:ext cx="1679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AD6818"/>
                    </a:solidFill>
                    <a:latin typeface="+mn-lt"/>
                    <a:ea typeface="+mn-ea"/>
                    <a:cs typeface="+mn-cs"/>
                  </a:rPr>
                  <a:t>N2 · SCTP / NGAP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4572000" y="4429125"/>
                <a:ext cx="3524250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headEnd type="triangle" w="lg" len="lg"/>
                <a:tailEnd type="triangle" w="lg" len="lg"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993005" y="3943350"/>
                <a:ext cx="22661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N3 · UDP/2152 + GTP-U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9429750" y="29718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19050">
                <a:solidFill>
                  <a:srgbClr val="AD6818"/>
                </a:solidFill>
                <a:custDash>
                  <a:ds d="300000" sp="200000"/>
                </a:custDash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565005" y="3276600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AD6818"/>
                    </a:solidFill>
                    <a:latin typeface="+mn-lt"/>
                    <a:ea typeface="+mn-ea"/>
                    <a:cs typeface="+mn-cs"/>
                  </a:rPr>
                  <a:t>N4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3524250" y="4857750"/>
                <a:ext cx="95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">
                    <a:moveTo>
                      <a:pt x="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524250" y="5334000"/>
                <a:ext cx="2095500" cy="1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tailEnd type="triangle" w="lg" len="lg"/>
              </a:ln>
            </p:spPr>
          </p:sp>
        </p:grpSp>
        <p:grpSp>
          <p:nvGrpSpPr>
            <p:cNvPr id="27" name="control-actors"/>
            <p:cNvGrpSpPr/>
            <p:nvPr/>
          </p:nvGrpSpPr>
          <p:grpSpPr>
            <a:xfrm>
              <a:off x="2476500" y="2171700"/>
              <a:ext cx="8286750" cy="800100"/>
              <a:chOff x="2476500" y="2171700"/>
              <a:chExt cx="8286750" cy="8001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476500" y="2171700"/>
                <a:ext cx="2095500" cy="800100"/>
              </a:xfrm>
              <a:prstGeom prst="roundRect">
                <a:avLst>
                  <a:gd name="adj" fmla="val 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929707" y="2279650"/>
                <a:ext cx="11890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基站 Linux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011805" y="26416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内核协议栈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096250" y="2171700"/>
                <a:ext cx="2667000" cy="800100"/>
              </a:xfrm>
              <a:prstGeom prst="roundRect">
                <a:avLst>
                  <a:gd name="adj" fmla="val 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799728" y="2266950"/>
                <a:ext cx="12600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AMF / SMF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15375" y="264160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核心网控制功能</a:t>
                </a:r>
              </a:p>
            </p:txBody>
          </p:sp>
        </p:grpSp>
        <p:grpSp>
          <p:nvGrpSpPr>
            <p:cNvPr id="34" name="user-actors"/>
            <p:cNvGrpSpPr/>
            <p:nvPr/>
          </p:nvGrpSpPr>
          <p:grpSpPr>
            <a:xfrm>
              <a:off x="2476500" y="4000500"/>
              <a:ext cx="8286750" cy="857250"/>
              <a:chOff x="2476500" y="4000500"/>
              <a:chExt cx="8286750" cy="857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2476500" y="4000500"/>
                <a:ext cx="2095500" cy="857250"/>
              </a:xfrm>
              <a:prstGeom prst="roundRect">
                <a:avLst>
                  <a:gd name="adj" fmla="val 6667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735123" y="4108450"/>
                <a:ext cx="15782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基站 VPP / VF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809875" y="44989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用户态数据路径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096250" y="4000500"/>
                <a:ext cx="2667000" cy="857250"/>
              </a:xfrm>
              <a:prstGeom prst="roundRect">
                <a:avLst>
                  <a:gd name="adj" fmla="val 6667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850935" y="409575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UPF + VPP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266557" y="4498975"/>
                <a:ext cx="23263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规则 / GTP-U 与高速 I/O</a:t>
                </a:r>
              </a:p>
            </p:txBody>
          </p:sp>
        </p:grpSp>
        <p:grpSp>
          <p:nvGrpSpPr>
            <p:cNvPr id="37" name="edge-branch"/>
            <p:cNvGrpSpPr/>
            <p:nvPr/>
          </p:nvGrpSpPr>
          <p:grpSpPr>
            <a:xfrm>
              <a:off x="5619750" y="5038725"/>
              <a:ext cx="2000250" cy="523875"/>
              <a:chOff x="5619750" y="5038725"/>
              <a:chExt cx="2000250" cy="523875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619750" y="5038725"/>
                <a:ext cx="2000250" cy="523875"/>
              </a:xfrm>
              <a:prstGeom prst="roundRect">
                <a:avLst>
                  <a:gd name="adj" fmla="val 10909"/>
                </a:avLst>
              </a:prstGeom>
              <a:solidFill>
                <a:srgbClr val="E7F4E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621160" y="5178425"/>
                <a:ext cx="19974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边缘 DN · 无 GTP-U</a:t>
                </a:r>
              </a:p>
            </p:txBody>
          </p:sp>
        </p:grpSp>
      </p:grpSp>
      <p:grpSp>
        <p:nvGrpSpPr>
          <p:cNvPr id="40" name="takeaway"/>
          <p:cNvGrpSpPr/>
          <p:nvPr/>
        </p:nvGrpSpPr>
        <p:grpSpPr>
          <a:xfrm>
            <a:off x="446532" y="5946775"/>
            <a:ext cx="7879385" cy="410718"/>
            <a:chOff x="446532" y="5946775"/>
            <a:chExt cx="7879385" cy="410718"/>
          </a:xfrm>
        </p:grpSpPr>
        <p:sp>
          <p:nvSpPr>
            <p:cNvPr id="39" name="TextBox 39"/>
            <p:cNvSpPr txBox="1"/>
            <p:nvPr/>
          </p:nvSpPr>
          <p:spPr>
            <a:xfrm>
              <a:off x="446532" y="5946775"/>
              <a:ext cx="78793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同一台服务器，可以并行存在内核控制路径和 VF 用户态路径。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451866" y="6511925"/>
              <a:ext cx="4313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N4 为核心网控制与用户面之间的 PFCP 控制；边缘分流来自自研增强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4472940" cy="586740"/>
            <a:chOff x="441960" y="393700"/>
            <a:chExt cx="44729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三种布线，业务角色相同</a:t>
              </a:r>
            </a:p>
          </p:txBody>
        </p:sp>
      </p:grpSp>
      <p:grpSp>
        <p:nvGrpSpPr>
          <p:cNvPr id="16" name="first-topology"/>
          <p:cNvGrpSpPr/>
          <p:nvPr/>
        </p:nvGrpSpPr>
        <p:grpSpPr>
          <a:xfrm>
            <a:off x="446532" y="1600200"/>
            <a:ext cx="11288268" cy="876300"/>
            <a:chOff x="446532" y="1600200"/>
            <a:chExt cx="11288268" cy="876300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612900"/>
              <a:ext cx="18200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同口共享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580" y="2060575"/>
              <a:ext cx="2091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10G / 100G，同一链路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667250" y="20383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38100">
              <a:solidFill>
                <a:srgbClr val="617487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762875" y="20383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rgbClr val="61748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714625" y="1600200"/>
              <a:ext cx="1952625" cy="876300"/>
            </a:xfrm>
            <a:prstGeom prst="roundRect">
              <a:avLst>
                <a:gd name="adj" fmla="val 65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986430" y="1755775"/>
              <a:ext cx="1399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基站 · 网口1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11344" y="2130425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 + 用户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62625" y="1600200"/>
              <a:ext cx="2000250" cy="876300"/>
            </a:xfrm>
            <a:prstGeom prst="roundRect">
              <a:avLst>
                <a:gd name="adj" fmla="val 65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47816" y="190817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同一交换机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96375" y="1600200"/>
              <a:ext cx="2638425" cy="876300"/>
            </a:xfrm>
            <a:prstGeom prst="roundRect">
              <a:avLst>
                <a:gd name="adj" fmla="val 65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89922" y="1755775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核心网 · 网口1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35994" y="2130425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 + 用户</a:t>
              </a:r>
            </a:p>
          </p:txBody>
        </p:sp>
      </p:grpSp>
      <p:grpSp>
        <p:nvGrpSpPr>
          <p:cNvPr id="31" name="second-topology"/>
          <p:cNvGrpSpPr/>
          <p:nvPr/>
        </p:nvGrpSpPr>
        <p:grpSpPr>
          <a:xfrm>
            <a:off x="446532" y="2933700"/>
            <a:ext cx="11288268" cy="1181100"/>
            <a:chOff x="446532" y="2933700"/>
            <a:chExt cx="11288268" cy="1181100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3022600"/>
              <a:ext cx="23854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分口同交换机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580" y="3470275"/>
              <a:ext cx="2164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两网段，按需划分 VLAN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67250" y="323850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38100">
              <a:solidFill>
                <a:srgbClr val="AD6818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762875" y="3238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rgbClr val="AD6818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667250" y="381000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762875" y="38100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14625" y="2933700"/>
              <a:ext cx="1952625" cy="1181100"/>
            </a:xfrm>
            <a:prstGeom prst="roundRect">
              <a:avLst>
                <a:gd name="adj" fmla="val 48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86430" y="3079750"/>
              <a:ext cx="1399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AD6818"/>
                  </a:solidFill>
                  <a:latin typeface="+mn-lt"/>
                  <a:ea typeface="+mn-ea"/>
                  <a:cs typeface="+mn-cs"/>
                </a:rPr>
                <a:t>基站 · 网口1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86430" y="3670300"/>
              <a:ext cx="1399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基站 · 网口2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62625" y="2933700"/>
              <a:ext cx="2000250" cy="1181100"/>
            </a:xfrm>
            <a:prstGeom prst="roundRect">
              <a:avLst>
                <a:gd name="adj" fmla="val 48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47816" y="3403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同一交换机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096375" y="2933700"/>
              <a:ext cx="2638425" cy="1181100"/>
            </a:xfrm>
            <a:prstGeom prst="roundRect">
              <a:avLst>
                <a:gd name="adj" fmla="val 48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89922" y="307975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AD6818"/>
                  </a:solidFill>
                  <a:latin typeface="+mn-lt"/>
                  <a:ea typeface="+mn-ea"/>
                  <a:cs typeface="+mn-cs"/>
                </a:rPr>
                <a:t>核心网 · 网口3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89922" y="367030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核心网 · 网口4</a:t>
              </a:r>
            </a:p>
          </p:txBody>
        </p:sp>
      </p:grpSp>
      <p:grpSp>
        <p:nvGrpSpPr>
          <p:cNvPr id="48" name="third-topology"/>
          <p:cNvGrpSpPr/>
          <p:nvPr/>
        </p:nvGrpSpPr>
        <p:grpSpPr>
          <a:xfrm>
            <a:off x="446532" y="4552950"/>
            <a:ext cx="11288268" cy="1257300"/>
            <a:chOff x="446532" y="4552950"/>
            <a:chExt cx="11288268" cy="1257300"/>
          </a:xfrm>
        </p:grpSpPr>
        <p:sp>
          <p:nvSpPr>
            <p:cNvPr id="32" name="TextBox 32"/>
            <p:cNvSpPr txBox="1"/>
            <p:nvPr/>
          </p:nvSpPr>
          <p:spPr>
            <a:xfrm>
              <a:off x="446532" y="4603750"/>
              <a:ext cx="23854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分口分交换机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9580" y="5051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控制面与用户面物理分离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667250" y="48196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38100">
              <a:solidFill>
                <a:srgbClr val="AD6818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762875" y="48196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rgbClr val="AD6818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667250" y="552450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7762875" y="5524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714625" y="4552950"/>
              <a:ext cx="1952625" cy="12573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86430" y="4679950"/>
              <a:ext cx="1399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AD6818"/>
                  </a:solidFill>
                  <a:latin typeface="+mn-lt"/>
                  <a:ea typeface="+mn-ea"/>
                  <a:cs typeface="+mn-cs"/>
                </a:rPr>
                <a:t>基站 · 网口1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86430" y="5384800"/>
              <a:ext cx="1399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基站 · 网口2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62625" y="4552950"/>
              <a:ext cx="2000250" cy="533400"/>
            </a:xfrm>
            <a:prstGeom prst="roundRect">
              <a:avLst>
                <a:gd name="adj" fmla="val 10714"/>
              </a:avLst>
            </a:prstGeom>
            <a:solidFill>
              <a:srgbClr val="FFF3E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61278" y="4689475"/>
              <a:ext cx="1602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交换机1 · 10G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62625" y="5257800"/>
              <a:ext cx="2000250" cy="552450"/>
            </a:xfrm>
            <a:prstGeom prst="roundRect">
              <a:avLst>
                <a:gd name="adj" fmla="val 1034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90870" y="5394325"/>
              <a:ext cx="17437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交换机2 · 100G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096375" y="4552950"/>
              <a:ext cx="2638425" cy="12573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89922" y="467995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AD6818"/>
                  </a:solidFill>
                  <a:latin typeface="+mn-lt"/>
                  <a:ea typeface="+mn-ea"/>
                  <a:cs typeface="+mn-cs"/>
                </a:rPr>
                <a:t>核心网 · 网口3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89922" y="538480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核心网 · 网口4</a:t>
              </a:r>
            </a:p>
          </p:txBody>
        </p:sp>
      </p:grpSp>
      <p:grpSp>
        <p:nvGrpSpPr>
          <p:cNvPr id="51" name="networks"/>
          <p:cNvGrpSpPr/>
          <p:nvPr/>
        </p:nvGrpSpPr>
        <p:grpSpPr>
          <a:xfrm>
            <a:off x="2707767" y="6054725"/>
            <a:ext cx="6188164" cy="264033"/>
            <a:chOff x="2707767" y="6054725"/>
            <a:chExt cx="6188164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2707767" y="6054725"/>
              <a:ext cx="214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控制面：192.168.1.0/24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55892" y="6054725"/>
              <a:ext cx="214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用户面：192.168.2.0/24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451866" y="6511925"/>
              <a:ext cx="5056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布线示意；DN 接入用户面网络或其可达路由器；IP 网段不同不自动产生二层隔离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243371" cy="586740"/>
            <a:chOff x="441960" y="393700"/>
            <a:chExt cx="6243371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24337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经核心网：GTP-U 包住原始业务包</a:t>
              </a:r>
            </a:p>
          </p:txBody>
        </p:sp>
      </p:grpSp>
      <p:grpSp>
        <p:nvGrpSpPr>
          <p:cNvPr id="28" name="packet-path"/>
          <p:cNvGrpSpPr/>
          <p:nvPr/>
        </p:nvGrpSpPr>
        <p:grpSpPr>
          <a:xfrm>
            <a:off x="457200" y="1905000"/>
            <a:ext cx="11277600" cy="3619500"/>
            <a:chOff x="457200" y="1905000"/>
            <a:chExt cx="11277600" cy="3619500"/>
          </a:xfrm>
        </p:grpSpPr>
        <p:grpSp>
          <p:nvGrpSpPr>
            <p:cNvPr id="20" name="uplink"/>
            <p:cNvGrpSpPr/>
            <p:nvPr/>
          </p:nvGrpSpPr>
          <p:grpSpPr>
            <a:xfrm>
              <a:off x="457200" y="1905000"/>
              <a:ext cx="11277600" cy="1047750"/>
              <a:chOff x="457200" y="1905000"/>
              <a:chExt cx="11277600" cy="1047750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2266950" y="2428875"/>
                <a:ext cx="1066800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4857750" y="2428875"/>
                <a:ext cx="2571750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8953500" y="2428875"/>
                <a:ext cx="1047750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57200" y="1905000"/>
                <a:ext cx="1809750" cy="1047750"/>
              </a:xfrm>
              <a:prstGeom prst="roundRect">
                <a:avLst>
                  <a:gd name="adj" fmla="val 54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12113" y="209550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54678" y="2466975"/>
                <a:ext cx="10147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10.45.0.2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3333750" y="1905000"/>
                <a:ext cx="1524000" cy="1047750"/>
              </a:xfrm>
              <a:prstGeom prst="roundRect">
                <a:avLst>
                  <a:gd name="adj" fmla="val 5455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844290" y="21082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基站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661791" y="2479675"/>
                <a:ext cx="8679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加 GTP-U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429500" y="1905000"/>
                <a:ext cx="1524000" cy="1047750"/>
              </a:xfrm>
              <a:prstGeom prst="roundRect">
                <a:avLst>
                  <a:gd name="adj" fmla="val 5455"/>
                </a:avLst>
              </a:prstGeom>
              <a:solidFill>
                <a:srgbClr val="EAF2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971130" y="209550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UPF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80985" y="24796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解封装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0001250" y="1905000"/>
                <a:ext cx="1733550" cy="1047750"/>
              </a:xfrm>
              <a:prstGeom prst="roundRect">
                <a:avLst>
                  <a:gd name="adj" fmla="val 545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37343" y="2108200"/>
                <a:ext cx="8613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外部 DN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38505" y="2466975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198.51.100.10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81981" y="1971675"/>
                <a:ext cx="1298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N3 · GTP-U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6191250" y="29718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custDash>
                <a:ds d="300000" sp="200000"/>
              </a:custDash>
            </a:ln>
          </p:spPr>
        </p:sp>
        <p:grpSp>
          <p:nvGrpSpPr>
            <p:cNvPr id="27" name="encapsulated-packet"/>
            <p:cNvGrpSpPr/>
            <p:nvPr/>
          </p:nvGrpSpPr>
          <p:grpSpPr>
            <a:xfrm>
              <a:off x="1657350" y="3524250"/>
              <a:ext cx="8877300" cy="2000250"/>
              <a:chOff x="1657350" y="3524250"/>
              <a:chExt cx="8877300" cy="2000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657350" y="3524250"/>
                <a:ext cx="8877300" cy="2000250"/>
              </a:xfrm>
              <a:prstGeom prst="roundRect">
                <a:avLst>
                  <a:gd name="adj" fmla="val 2857"/>
                </a:avLst>
              </a:prstGeom>
              <a:solidFill>
                <a:srgbClr val="EAF2FA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933956" y="3679825"/>
                <a:ext cx="45169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外层 IP：192.168.2.10 → 192.168.2.20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935480" y="4070350"/>
                <a:ext cx="45611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基站 N3 → UPF N3　·　UDP/2152 + GTP-U / TEID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943100" y="4476750"/>
                <a:ext cx="8305800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180082" y="4699000"/>
                <a:ext cx="55241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内层业务 IP：10.45.0.2 → 198.51.100.10</a:t>
                </a:r>
              </a:p>
            </p:txBody>
          </p:sp>
        </p:grpSp>
      </p:grpSp>
      <p:grpSp>
        <p:nvGrpSpPr>
          <p:cNvPr id="30" name="takeaway"/>
          <p:cNvGrpSpPr/>
          <p:nvPr/>
        </p:nvGrpSpPr>
        <p:grpSpPr>
          <a:xfrm>
            <a:off x="446532" y="5937250"/>
            <a:ext cx="6884060" cy="410718"/>
            <a:chOff x="446532" y="5937250"/>
            <a:chExt cx="6884060" cy="410718"/>
          </a:xfrm>
        </p:grpSpPr>
        <p:sp>
          <p:nvSpPr>
            <p:cNvPr id="29" name="TextBox 29"/>
            <p:cNvSpPr txBox="1"/>
            <p:nvPr/>
          </p:nvSpPr>
          <p:spPr>
            <a:xfrm>
              <a:off x="446532" y="5937250"/>
              <a:ext cx="68840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封装增加外层；是否改变业务源 IP，要再看出口 NAT。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451866" y="6511925"/>
              <a:ext cx="3901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教学地址 · 本图为上行；下行顺序相反，TEID 按对应会话配置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838901" cy="586740"/>
            <a:chOff x="441960" y="393700"/>
            <a:chExt cx="5838901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83890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去边缘 DN：目的 CIDR 决定分流</a:t>
              </a:r>
            </a:p>
          </p:txBody>
        </p:sp>
      </p:grpSp>
      <p:grpSp>
        <p:nvGrpSpPr>
          <p:cNvPr id="30" name="edge-classifier-system"/>
          <p:cNvGrpSpPr/>
          <p:nvPr/>
        </p:nvGrpSpPr>
        <p:grpSpPr>
          <a:xfrm>
            <a:off x="457200" y="1489075"/>
            <a:ext cx="11277600" cy="4035425"/>
            <a:chOff x="457200" y="1489075"/>
            <a:chExt cx="11277600" cy="4035425"/>
          </a:xfrm>
        </p:grpSpPr>
        <p:sp>
          <p:nvSpPr>
            <p:cNvPr id="4" name="Rectangle 4"/>
            <p:cNvSpPr/>
            <p:nvPr/>
          </p:nvSpPr>
          <p:spPr>
            <a:xfrm>
              <a:off x="3714750" y="1905000"/>
              <a:ext cx="3048000" cy="2762250"/>
            </a:xfrm>
            <a:prstGeom prst="roundRect">
              <a:avLst>
                <a:gd name="adj" fmla="val 20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662678" y="20034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自研基站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524125" y="3238500"/>
              <a:ext cx="16192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6334125" y="3238500"/>
              <a:ext cx="1190625" cy="9525"/>
            </a:xfrm>
            <a:custGeom>
              <a:avLst/>
              <a:gdLst/>
              <a:ahLst/>
              <a:cxnLst/>
              <a:rect l="l" t="t" r="r" b="b"/>
              <a:pathLst>
                <a:path w="1190625" h="9525">
                  <a:moveTo>
                    <a:pt x="0" y="0"/>
                  </a:moveTo>
                  <a:lnTo>
                    <a:pt x="119062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524750" y="22860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9525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524750" y="2286000"/>
              <a:ext cx="80962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9858375" y="2286000"/>
              <a:ext cx="52387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5238750" y="400050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238750" y="5048250"/>
              <a:ext cx="3095625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57200" y="2714625"/>
              <a:ext cx="2066925" cy="1047750"/>
            </a:xfrm>
            <a:prstGeom prst="roundRect">
              <a:avLst>
                <a:gd name="adj" fmla="val 545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2902" y="2889250"/>
              <a:ext cx="1345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业务报文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692" y="3270250"/>
              <a:ext cx="1812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目的 203.0.113.10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34375" y="1857375"/>
              <a:ext cx="1524000" cy="857250"/>
            </a:xfrm>
            <a:prstGeom prst="roundRect">
              <a:avLst>
                <a:gd name="adj" fmla="val 666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76005" y="215265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UPF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82250" y="1857375"/>
              <a:ext cx="1352550" cy="857250"/>
            </a:xfrm>
            <a:prstGeom prst="roundRect">
              <a:avLst>
                <a:gd name="adj" fmla="val 666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27843" y="2165350"/>
              <a:ext cx="861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外部 DN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34375" y="4572000"/>
              <a:ext cx="3400425" cy="952500"/>
            </a:xfrm>
            <a:prstGeom prst="roundRect">
              <a:avLst>
                <a:gd name="adj" fmla="val 6000"/>
              </a:avLst>
            </a:prstGeom>
            <a:solidFill>
              <a:srgbClr val="E7F4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599143" y="4746625"/>
              <a:ext cx="861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边缘 DN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44774" y="511492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203.0.113.0/24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3231" y="1489075"/>
              <a:ext cx="20471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未命中 · 加 GTP-U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05856" y="4641850"/>
              <a:ext cx="1560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命中 · 普通 IP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55892" y="3435350"/>
              <a:ext cx="1191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共享用户面 VF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143375" y="2476500"/>
              <a:ext cx="2190750" cy="1524000"/>
            </a:xfrm>
            <a:prstGeom prst="flowChartDecision">
              <a:avLst/>
            </a:prstGeom>
            <a:solidFill>
              <a:srgbClr val="FFF3E3"/>
            </a:solidFill>
            <a:ln w="19050">
              <a:solidFill>
                <a:srgbClr val="AD6818"/>
              </a:solidFill>
            </a:ln>
          </p:spPr>
        </p:sp>
        <p:grpSp>
          <p:nvGrpSpPr>
            <p:cNvPr id="29" name="decision-label"/>
            <p:cNvGrpSpPr/>
            <p:nvPr/>
          </p:nvGrpSpPr>
          <p:grpSpPr>
            <a:xfrm>
              <a:off x="4699254" y="2917825"/>
              <a:ext cx="1078992" cy="713994"/>
              <a:chOff x="4699254" y="2917825"/>
              <a:chExt cx="1078992" cy="71399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699254" y="2917825"/>
                <a:ext cx="10789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边缘 CIDR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66132" y="327977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命中？</a:t>
                </a:r>
              </a:p>
            </p:txBody>
          </p:sp>
        </p:grpSp>
      </p:grpSp>
      <p:grpSp>
        <p:nvGrpSpPr>
          <p:cNvPr id="32" name="takeaway"/>
          <p:cNvGrpSpPr/>
          <p:nvPr/>
        </p:nvGrpSpPr>
        <p:grpSpPr>
          <a:xfrm>
            <a:off x="446532" y="5937250"/>
            <a:ext cx="7507072" cy="410718"/>
            <a:chOff x="446532" y="5937250"/>
            <a:chExt cx="7507072" cy="410718"/>
          </a:xfrm>
        </p:grpSpPr>
        <p:sp>
          <p:nvSpPr>
            <p:cNvPr id="31" name="TextBox 31"/>
            <p:cNvSpPr txBox="1"/>
            <p:nvPr/>
          </p:nvSpPr>
          <p:spPr>
            <a:xfrm>
              <a:off x="446532" y="5937250"/>
              <a:ext cx="75070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边缘绕行省去核心网用户面这一跳，N2 控制连接仍然存在。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451866" y="6511925"/>
              <a:ext cx="4110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教学地址 · 图示上行；下行由 NAT 状态或路由与会话映射找到 UE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4942789" cy="586740"/>
            <a:chOff x="441960" y="393700"/>
            <a:chExt cx="4942789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49427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NAT 改地址，路由保留地址</a:t>
              </a:r>
            </a:p>
          </p:txBody>
        </p:sp>
      </p:grpSp>
      <p:grpSp>
        <p:nvGrpSpPr>
          <p:cNvPr id="16" name="nat-example"/>
          <p:cNvGrpSpPr/>
          <p:nvPr/>
        </p:nvGrpSpPr>
        <p:grpSpPr>
          <a:xfrm>
            <a:off x="446532" y="1600200"/>
            <a:ext cx="11288268" cy="1888744"/>
            <a:chOff x="446532" y="1600200"/>
            <a:chExt cx="11288268" cy="1888744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612900"/>
              <a:ext cx="11983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 NAT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2571750" y="1600200"/>
              <a:ext cx="2381250" cy="8572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831516" y="1895475"/>
              <a:ext cx="18617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· 10.45.0.2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953000" y="2028825"/>
              <a:ext cx="9525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8" name="Rectangle 8"/>
            <p:cNvSpPr/>
            <p:nvPr/>
          </p:nvSpPr>
          <p:spPr>
            <a:xfrm>
              <a:off x="5905500" y="1600200"/>
              <a:ext cx="2619375" cy="857250"/>
            </a:xfrm>
            <a:prstGeom prst="roundRect">
              <a:avLst>
                <a:gd name="adj" fmla="val 666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30111" y="1736725"/>
              <a:ext cx="1360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 N6 NAT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36436" y="210502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198.51.100.1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24875" y="2028825"/>
              <a:ext cx="11430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667875" y="1600200"/>
              <a:ext cx="2066925" cy="8572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46613" y="1895475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1082" y="2698750"/>
              <a:ext cx="38121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 看到的源：</a:t>
              </a: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198.51.100.1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62606" y="3136900"/>
              <a:ext cx="5223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回包按已有映射还原到 UE，源端口也可能变化。</a:t>
              </a:r>
            </a:p>
          </p:txBody>
        </p:sp>
      </p:grpSp>
      <p:grpSp>
        <p:nvGrpSpPr>
          <p:cNvPr id="29" name="route-example"/>
          <p:cNvGrpSpPr/>
          <p:nvPr/>
        </p:nvGrpSpPr>
        <p:grpSpPr>
          <a:xfrm>
            <a:off x="446532" y="3810000"/>
            <a:ext cx="11288268" cy="1888744"/>
            <a:chOff x="446532" y="3810000"/>
            <a:chExt cx="11288268" cy="188874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38227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静态路由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71750" y="3810000"/>
              <a:ext cx="2381250" cy="8572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31516" y="4105275"/>
              <a:ext cx="18617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· 10.45.0.2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953000" y="4238625"/>
              <a:ext cx="9525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05500" y="3810000"/>
              <a:ext cx="2619375" cy="857250"/>
            </a:xfrm>
            <a:prstGeom prst="roundRect">
              <a:avLst>
                <a:gd name="adj" fmla="val 666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99022" y="3946525"/>
              <a:ext cx="142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 N6 路由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45224" y="4327525"/>
              <a:ext cx="93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源 IP 不变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24875" y="4238625"/>
              <a:ext cx="11430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667875" y="3810000"/>
              <a:ext cx="2066925" cy="8572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46613" y="4105275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61082" y="4908550"/>
              <a:ext cx="33223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 看到的源：</a:t>
              </a: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10.45.0.2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62606" y="5346700"/>
              <a:ext cx="54169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DN 回程路由：10.45.0.0/16 经 198.51.100.1。</a:t>
              </a:r>
            </a:p>
          </p:txBody>
        </p:sp>
      </p:grpSp>
      <p:grpSp>
        <p:nvGrpSpPr>
          <p:cNvPr id="31" name="edge-equivalence"/>
          <p:cNvGrpSpPr/>
          <p:nvPr/>
        </p:nvGrpSpPr>
        <p:grpSpPr>
          <a:xfrm>
            <a:off x="448056" y="5994400"/>
            <a:ext cx="8806358" cy="352044"/>
            <a:chOff x="448056" y="5994400"/>
            <a:chExt cx="8806358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448056" y="5994400"/>
              <a:ext cx="8806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边缘出口同理：出口地址换为 203.0.113.1；出口路由不等于 UE LAN NAT 关闭。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451866" y="6511925"/>
              <a:ext cx="5597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教学地址 · 动态 NAT 的回包与外部主动发起新连接不同；两种模式都需要正确路由和会话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903634" cy="586740"/>
            <a:chOff x="441960" y="393700"/>
            <a:chExt cx="6903634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9036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Wi-Fi 桥接：在模拟 UE 做第一次 NAT</a:t>
              </a:r>
            </a:p>
          </p:txBody>
        </p:sp>
      </p:grpSp>
      <p:grpSp>
        <p:nvGrpSpPr>
          <p:cNvPr id="35" name="ap-source-trace"/>
          <p:cNvGrpSpPr/>
          <p:nvPr/>
        </p:nvGrpSpPr>
        <p:grpSpPr>
          <a:xfrm>
            <a:off x="448056" y="1685925"/>
            <a:ext cx="11286744" cy="3632708"/>
            <a:chOff x="448056" y="1685925"/>
            <a:chExt cx="11286744" cy="3632708"/>
          </a:xfrm>
        </p:grpSpPr>
        <p:sp>
          <p:nvSpPr>
            <p:cNvPr id="4" name="Line 4"/>
            <p:cNvSpPr/>
            <p:nvPr/>
          </p:nvSpPr>
          <p:spPr>
            <a:xfrm>
              <a:off x="2190750" y="2809875"/>
              <a:ext cx="52387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" name="Line 5"/>
            <p:cNvSpPr/>
            <p:nvPr/>
          </p:nvSpPr>
          <p:spPr>
            <a:xfrm>
              <a:off x="4524375" y="2809875"/>
              <a:ext cx="52387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7143750" y="2809875"/>
              <a:ext cx="5715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9191625" y="28098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209550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7143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0" y="2095500"/>
              <a:ext cx="4762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8458200" y="3333750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458200" y="4429125"/>
              <a:ext cx="154305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2286000"/>
              <a:ext cx="1733550" cy="104775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0867" y="2479675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手机 / 电脑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455" y="28479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192.168.40.10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714625" y="2286000"/>
              <a:ext cx="1809750" cy="104775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26296" y="2466975"/>
              <a:ext cx="9864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Wi-Fi AP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9228" y="2860675"/>
              <a:ext cx="1300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桥接 · 不改 IP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286000"/>
              <a:ext cx="2095500" cy="1047750"/>
            </a:xfrm>
            <a:prstGeom prst="roundRect">
              <a:avLst>
                <a:gd name="adj" fmla="val 545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06873" y="2479675"/>
              <a:ext cx="15782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模拟 UE · NAT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38394" y="2860675"/>
              <a:ext cx="1315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 → UE 地址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715250" y="2286000"/>
              <a:ext cx="1476375" cy="1047750"/>
            </a:xfrm>
            <a:prstGeom prst="roundRect">
              <a:avLst>
                <a:gd name="adj" fmla="val 545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7215" y="26797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001250" y="1685925"/>
              <a:ext cx="1733550" cy="809625"/>
            </a:xfrm>
            <a:prstGeom prst="roundRect">
              <a:avLst>
                <a:gd name="adj" fmla="val 7059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45776" y="1793875"/>
              <a:ext cx="12444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核心网 NAT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94036" y="214312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198.51.100.1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001250" y="4029075"/>
              <a:ext cx="1733550" cy="809625"/>
            </a:xfrm>
            <a:prstGeom prst="roundRect">
              <a:avLst>
                <a:gd name="adj" fmla="val 7059"/>
              </a:avLst>
            </a:prstGeom>
            <a:solidFill>
              <a:srgbClr val="E7F4E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24618" y="4137025"/>
              <a:ext cx="1486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基站边缘 NAT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49567" y="4486275"/>
              <a:ext cx="12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203.0.113.1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9580" y="3651250"/>
              <a:ext cx="1504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源仍为 LAN 地址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7582" y="3575050"/>
              <a:ext cx="24278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源变为 10.45.0.2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056" y="4498975"/>
              <a:ext cx="3228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设备网关：192.168.40.1/22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8056" y="4956175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DHCP / DNS 服务需另外提供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75342" y="2711450"/>
              <a:ext cx="800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外部 DN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75342" y="5054600"/>
              <a:ext cx="800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边缘 DN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446532" y="5937250"/>
            <a:ext cx="7300912" cy="410718"/>
            <a:chOff x="446532" y="5937250"/>
            <a:chExt cx="7300912" cy="410718"/>
          </a:xfrm>
        </p:grpSpPr>
        <p:sp>
          <p:nvSpPr>
            <p:cNvPr id="36" name="TextBox 36"/>
            <p:cNvSpPr txBox="1"/>
            <p:nvPr/>
          </p:nvSpPr>
          <p:spPr>
            <a:xfrm>
              <a:off x="446532" y="5937250"/>
              <a:ext cx="73009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回包先逆出口 NAT，再逆 UE NAT，最后回到手机 / 电脑。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451866" y="6511925"/>
              <a:ext cx="4629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教学地址 · 出口若采用路由模式，DN 看到的源保持为 UE 地址 10.45.0.2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489219" cy="586740"/>
            <a:chOff x="441960" y="393700"/>
            <a:chExt cx="5489219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48921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Wi-Fi WAN 模式：多一层 NAT</a:t>
              </a:r>
            </a:p>
          </p:txBody>
        </p:sp>
      </p:grpSp>
      <p:grpSp>
        <p:nvGrpSpPr>
          <p:cNvPr id="25" name="three-nat-stages"/>
          <p:cNvGrpSpPr/>
          <p:nvPr/>
        </p:nvGrpSpPr>
        <p:grpSpPr>
          <a:xfrm>
            <a:off x="446532" y="1574800"/>
            <a:ext cx="11288268" cy="3378201"/>
            <a:chOff x="446532" y="1574800"/>
            <a:chExt cx="11288268" cy="3378201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574800"/>
              <a:ext cx="23253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上行 · 追踪源地址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2647950" y="2952750"/>
              <a:ext cx="7810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5667375" y="2952750"/>
              <a:ext cx="7620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8667750" y="2952750"/>
              <a:ext cx="7620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2333625"/>
              <a:ext cx="2190750" cy="1238250"/>
            </a:xfrm>
            <a:prstGeom prst="roundRect">
              <a:avLst>
                <a:gd name="adj" fmla="val 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1115" y="251777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151" y="298132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192.168.50.10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29000" y="2333625"/>
              <a:ext cx="2238375" cy="1238250"/>
            </a:xfrm>
            <a:prstGeom prst="roundRect">
              <a:avLst>
                <a:gd name="adj" fmla="val 461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28193" y="2517775"/>
              <a:ext cx="1430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Wi-Fi 路由器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34638" y="2981325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192.168.40.2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429375" y="2333625"/>
              <a:ext cx="2238375" cy="1238250"/>
            </a:xfrm>
            <a:prstGeom prst="roundRect">
              <a:avLst>
                <a:gd name="adj" fmla="val 461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13118" y="2517775"/>
              <a:ext cx="861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模拟 UE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34924" y="2981325"/>
              <a:ext cx="121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10.45.0.2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429750" y="2333625"/>
              <a:ext cx="2305050" cy="1238250"/>
            </a:xfrm>
            <a:prstGeom prst="roundRect">
              <a:avLst>
                <a:gd name="adj" fmla="val 461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88499" y="25177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核心出口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3488" y="2981325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198.51.100.1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69030" y="3822700"/>
              <a:ext cx="1067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 1 层 NAT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9405" y="3822700"/>
              <a:ext cx="1067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 2 层 NAT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69780" y="3822700"/>
              <a:ext cx="1067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 3 层 NAT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532" y="4365625"/>
              <a:ext cx="45869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下行 · 目的地址沿相反顺序逐层还原</a:t>
              </a:r>
            </a:p>
          </p:txBody>
        </p:sp>
        <p:sp>
          <p:nvSpPr>
            <p:cNvPr id="24" name="Line 24"/>
            <p:cNvSpPr/>
            <p:nvPr/>
          </p:nvSpPr>
          <p:spPr>
            <a:xfrm flipH="1">
              <a:off x="904875" y="4953000"/>
              <a:ext cx="1042987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28" name="wan-conditions"/>
          <p:cNvGrpSpPr/>
          <p:nvPr/>
        </p:nvGrpSpPr>
        <p:grpSpPr>
          <a:xfrm>
            <a:off x="448056" y="5451475"/>
            <a:ext cx="8841105" cy="799719"/>
            <a:chOff x="448056" y="5451475"/>
            <a:chExt cx="8841105" cy="799719"/>
          </a:xfrm>
        </p:grpSpPr>
        <p:sp>
          <p:nvSpPr>
            <p:cNvPr id="26" name="TextBox 26"/>
            <p:cNvSpPr txBox="1"/>
            <p:nvPr/>
          </p:nvSpPr>
          <p:spPr>
            <a:xfrm>
              <a:off x="448056" y="5451475"/>
              <a:ext cx="58183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WAN：192.168.40.2/22，网关 192.168.40.1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056" y="5899150"/>
              <a:ext cx="8841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若走边缘：最后一级换为 203.0.113.1；若出口为路由模式：省去最后一级 NAT。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451866" y="6511925"/>
              <a:ext cx="5292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教学地址 · 目的 DN 地址不变，源端口可能逐层变化；Wi-Fi LAN/WAN 网段不能重叠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354775" cy="586740"/>
            <a:chOff x="441960" y="393700"/>
            <a:chExt cx="6354775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3547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核心网内部：UPF 与 VPP 各司其职</a:t>
              </a:r>
            </a:p>
          </p:txBody>
        </p:sp>
      </p:grpSp>
      <p:grpSp>
        <p:nvGrpSpPr>
          <p:cNvPr id="26" name="core-pod-memif"/>
          <p:cNvGrpSpPr/>
          <p:nvPr/>
        </p:nvGrpSpPr>
        <p:grpSpPr>
          <a:xfrm>
            <a:off x="457200" y="1476375"/>
            <a:ext cx="11277600" cy="3381375"/>
            <a:chOff x="457200" y="1476375"/>
            <a:chExt cx="11277600" cy="3381375"/>
          </a:xfrm>
        </p:grpSpPr>
        <p:sp>
          <p:nvSpPr>
            <p:cNvPr id="4" name="Rectangle 4"/>
            <p:cNvSpPr/>
            <p:nvPr/>
          </p:nvSpPr>
          <p:spPr>
            <a:xfrm>
              <a:off x="457200" y="1476375"/>
              <a:ext cx="11277600" cy="3381375"/>
            </a:xfrm>
            <a:prstGeom prst="roundRect">
              <a:avLst>
                <a:gd name="adj" fmla="val 16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9130" y="1641475"/>
              <a:ext cx="2306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核心网 Pod · memif 模式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476750" y="1952625"/>
              <a:ext cx="3238500" cy="1000125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05222" y="2089150"/>
              <a:ext cx="17815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Open5GS UPF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16044" y="2479675"/>
              <a:ext cx="295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PDR / FAR · GTP-U 解封装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3571875"/>
              <a:ext cx="10858500" cy="1047750"/>
            </a:xfrm>
            <a:prstGeom prst="roundRect">
              <a:avLst>
                <a:gd name="adj" fmla="val 545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42535" y="3698875"/>
              <a:ext cx="21069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 VPP 进程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46003" y="4156075"/>
              <a:ext cx="2699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VF 收发 · 路由 · N6 NAT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309562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lnTo>
                    <a:pt x="176212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476625" y="2457450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6381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76625" y="2457450"/>
              <a:ext cx="100012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7715250" y="24574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763000" y="2457450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763000" y="3095625"/>
              <a:ext cx="17145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>
              <a:off x="1714500" y="309562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477500" y="309562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106" y="2581275"/>
              <a:ext cx="658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N3 VF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7880" y="3181350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memif2/0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98255" y="3181350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memif1/0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48316" y="2581275"/>
              <a:ext cx="658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N6 VF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0392" y="2063750"/>
              <a:ext cx="2255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来自基站：外层 IP / GTP-U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7517" y="2063750"/>
              <a:ext cx="1775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交给 DN：普通业务 IP</a:t>
              </a:r>
            </a:p>
          </p:txBody>
        </p:sp>
      </p:grpSp>
      <p:grpSp>
        <p:nvGrpSpPr>
          <p:cNvPr id="29" name="tun-comparison"/>
          <p:cNvGrpSpPr/>
          <p:nvPr/>
        </p:nvGrpSpPr>
        <p:grpSpPr>
          <a:xfrm>
            <a:off x="446532" y="5251450"/>
            <a:ext cx="5938463" cy="906018"/>
            <a:chOff x="446532" y="5251450"/>
            <a:chExt cx="5938463" cy="906018"/>
          </a:xfrm>
        </p:grpSpPr>
        <p:sp>
          <p:nvSpPr>
            <p:cNvPr id="27" name="TextBox 27"/>
            <p:cNvSpPr txBox="1"/>
            <p:nvPr/>
          </p:nvSpPr>
          <p:spPr>
            <a:xfrm>
              <a:off x="446532" y="5251450"/>
              <a:ext cx="2611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TUN 模式的对应路径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532" y="5746750"/>
              <a:ext cx="59384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Linux UDP → UPF → ogstun → Linux 路由 / NAT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451866" y="6511925"/>
              <a:ext cx="5004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memif 为同主机共享内存 IP 接口；VPP 不是本实现的 GTP-U 终结者；图示上行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4472940" cy="586740"/>
            <a:chOff x="441960" y="393700"/>
            <a:chExt cx="44729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不通时，先查去程与回程</a:t>
              </a:r>
            </a:p>
          </p:txBody>
        </p:sp>
      </p:grpSp>
      <p:grpSp>
        <p:nvGrpSpPr>
          <p:cNvPr id="12" name="return-path"/>
          <p:cNvGrpSpPr/>
          <p:nvPr/>
        </p:nvGrpSpPr>
        <p:grpSpPr>
          <a:xfrm>
            <a:off x="904875" y="1727200"/>
            <a:ext cx="10382250" cy="1456944"/>
            <a:chOff x="904875" y="1727200"/>
            <a:chExt cx="10382250" cy="1456944"/>
          </a:xfrm>
        </p:grpSpPr>
        <p:sp>
          <p:nvSpPr>
            <p:cNvPr id="4" name="Rectangle 4"/>
            <p:cNvSpPr/>
            <p:nvPr/>
          </p:nvSpPr>
          <p:spPr>
            <a:xfrm>
              <a:off x="904875" y="1857375"/>
              <a:ext cx="1809750" cy="1047750"/>
            </a:xfrm>
            <a:prstGeom prst="roundRect">
              <a:avLst>
                <a:gd name="adj" fmla="val 545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57910" y="2241550"/>
              <a:ext cx="11036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业务侧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0" y="1857375"/>
              <a:ext cx="1762125" cy="104775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1338" y="222885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714625" y="2143125"/>
              <a:ext cx="681037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2714625" y="2667000"/>
              <a:ext cx="681037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86731" y="17272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去程可达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6731" y="28321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回程可达</a:t>
              </a:r>
            </a:p>
          </p:txBody>
        </p:sp>
      </p:grpSp>
      <p:grpSp>
        <p:nvGrpSpPr>
          <p:cNvPr id="16" name="linux-queries"/>
          <p:cNvGrpSpPr/>
          <p:nvPr/>
        </p:nvGrpSpPr>
        <p:grpSpPr>
          <a:xfrm>
            <a:off x="446532" y="3622675"/>
            <a:ext cx="5439918" cy="1501775"/>
            <a:chOff x="446532" y="3622675"/>
            <a:chExt cx="5439918" cy="1501775"/>
          </a:xfrm>
        </p:grpSpPr>
        <p:sp>
          <p:nvSpPr>
            <p:cNvPr id="13" name="TextBox 13"/>
            <p:cNvSpPr txBox="1"/>
            <p:nvPr/>
          </p:nvSpPr>
          <p:spPr>
            <a:xfrm>
              <a:off x="446532" y="3622675"/>
              <a:ext cx="19926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Linux 转发路径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" y="4095750"/>
              <a:ext cx="542925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8368" y="4184650"/>
              <a:ext cx="3013329" cy="703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ip route get 198.51.100.10</a:t>
              </a:r>
              <a:b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ip rule show</a:t>
              </a:r>
            </a:p>
          </p:txBody>
        </p:sp>
      </p:grpSp>
      <p:grpSp>
        <p:nvGrpSpPr>
          <p:cNvPr id="20" name="vpp-queries"/>
          <p:cNvGrpSpPr/>
          <p:nvPr/>
        </p:nvGrpSpPr>
        <p:grpSpPr>
          <a:xfrm>
            <a:off x="6409182" y="3622675"/>
            <a:ext cx="5325618" cy="1501775"/>
            <a:chOff x="6409182" y="3622675"/>
            <a:chExt cx="5325618" cy="1501775"/>
          </a:xfrm>
        </p:grpSpPr>
        <p:sp>
          <p:nvSpPr>
            <p:cNvPr id="17" name="TextBox 17"/>
            <p:cNvSpPr txBox="1"/>
            <p:nvPr/>
          </p:nvSpPr>
          <p:spPr>
            <a:xfrm>
              <a:off x="6409182" y="3622675"/>
              <a:ext cx="1763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VPP 转发路径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19850" y="4095750"/>
              <a:ext cx="531495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21018" y="4464050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vppctl show ip fib</a:t>
              </a:r>
            </a:p>
          </p:txBody>
        </p:sp>
      </p:grpSp>
      <p:grpSp>
        <p:nvGrpSpPr>
          <p:cNvPr id="22" name="takeaway"/>
          <p:cNvGrpSpPr/>
          <p:nvPr/>
        </p:nvGrpSpPr>
        <p:grpSpPr>
          <a:xfrm>
            <a:off x="446532" y="5861050"/>
            <a:ext cx="5470550" cy="410718"/>
            <a:chOff x="446532" y="5861050"/>
            <a:chExt cx="5470550" cy="410718"/>
          </a:xfrm>
        </p:grpSpPr>
        <p:sp>
          <p:nvSpPr>
            <p:cNvPr id="21" name="TextBox 21"/>
            <p:cNvSpPr txBox="1"/>
            <p:nvPr/>
          </p:nvSpPr>
          <p:spPr>
            <a:xfrm>
              <a:off x="446532" y="5861050"/>
              <a:ext cx="54705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路由模式：DN 还需知道如何返回 UE 网段。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451866" y="6511925"/>
              <a:ext cx="5124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查询应在真正转发的主机、容器或 VPP 实例执行；Linux FIB 与 VPP FIB 相互独立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697637" cy="586740"/>
            <a:chOff x="441960" y="393700"/>
            <a:chExt cx="6697637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69763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镜像 → Helm → Pod：部署关系先理清</a:t>
              </a:r>
            </a:p>
          </p:txBody>
        </p:sp>
      </p:grpSp>
      <p:grpSp>
        <p:nvGrpSpPr>
          <p:cNvPr id="27" name="deployment-and-runtime"/>
          <p:cNvGrpSpPr/>
          <p:nvPr/>
        </p:nvGrpSpPr>
        <p:grpSpPr>
          <a:xfrm>
            <a:off x="457200" y="1657350"/>
            <a:ext cx="11277600" cy="3371850"/>
            <a:chOff x="457200" y="1657350"/>
            <a:chExt cx="11277600" cy="3371850"/>
          </a:xfrm>
        </p:grpSpPr>
        <p:sp>
          <p:nvSpPr>
            <p:cNvPr id="4" name="Line 4"/>
            <p:cNvSpPr/>
            <p:nvPr/>
          </p:nvSpPr>
          <p:spPr>
            <a:xfrm>
              <a:off x="2362200" y="2628900"/>
              <a:ext cx="7334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" name="Line 5"/>
            <p:cNvSpPr/>
            <p:nvPr/>
          </p:nvSpPr>
          <p:spPr>
            <a:xfrm>
              <a:off x="4572000" y="2628900"/>
              <a:ext cx="7620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7572375" y="2628900"/>
              <a:ext cx="7620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2095500"/>
              <a:ext cx="1905000" cy="1066800"/>
            </a:xfrm>
            <a:prstGeom prst="roundRect">
              <a:avLst>
                <a:gd name="adj" fmla="val 53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3600" y="2266950"/>
              <a:ext cx="692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8040" y="2647950"/>
              <a:ext cx="9633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 values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095625" y="2095500"/>
              <a:ext cx="1476375" cy="1066800"/>
            </a:xfrm>
            <a:prstGeom prst="roundRect">
              <a:avLst>
                <a:gd name="adj" fmla="val 535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10177" y="2451100"/>
              <a:ext cx="6377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Helm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0" y="2095500"/>
              <a:ext cx="2238375" cy="1066800"/>
            </a:xfrm>
            <a:prstGeom prst="roundRect">
              <a:avLst>
                <a:gd name="adj" fmla="val 535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75232" y="2266950"/>
              <a:ext cx="13463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Deployment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5015" y="26987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维护期望副本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34375" y="1657350"/>
              <a:ext cx="3400425" cy="2800350"/>
            </a:xfrm>
            <a:prstGeom prst="roundRect">
              <a:avLst>
                <a:gd name="adj" fmla="val 2041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61832" y="1746250"/>
              <a:ext cx="5203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620125" y="2343150"/>
              <a:ext cx="2828925" cy="828675"/>
            </a:xfrm>
            <a:prstGeom prst="roundRect">
              <a:avLst>
                <a:gd name="adj" fmla="val 689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19159" y="2622550"/>
              <a:ext cx="2421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业务容器 · UPF / VPP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63356" y="3403600"/>
              <a:ext cx="2332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containerd 启动容器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4880" y="3870325"/>
              <a:ext cx="1829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Pod 是最小调度单元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" y="4029075"/>
              <a:ext cx="4114800" cy="1000125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132" y="41560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镜像：应用与依赖的交付包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180" y="4632325"/>
              <a:ext cx="3502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仓库可用 Harbor；Docker 可用于构建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572000" y="4667250"/>
              <a:ext cx="5457825" cy="9525"/>
            </a:xfrm>
            <a:custGeom>
              <a:avLst/>
              <a:gdLst/>
              <a:ahLst/>
              <a:cxnLst/>
              <a:rect l="l" t="t" r="r" b="b"/>
              <a:pathLst>
                <a:path w="5457825" h="9525">
                  <a:moveTo>
                    <a:pt x="0" y="0"/>
                  </a:moveTo>
                  <a:lnTo>
                    <a:pt x="54578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 flipV="1">
              <a:off x="10029825" y="4457700"/>
              <a:ext cx="1" cy="2095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88255" y="43180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节点按镜像启动</a:t>
              </a:r>
            </a:p>
          </p:txBody>
        </p:sp>
      </p:grpSp>
      <p:grpSp>
        <p:nvGrpSpPr>
          <p:cNvPr id="29" name="network-boundary"/>
          <p:cNvGrpSpPr/>
          <p:nvPr/>
        </p:nvGrpSpPr>
        <p:grpSpPr>
          <a:xfrm>
            <a:off x="446532" y="5670550"/>
            <a:ext cx="7831912" cy="410718"/>
            <a:chOff x="446532" y="5670550"/>
            <a:chExt cx="7831912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446532" y="5670550"/>
              <a:ext cx="78319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Pod 网络看 CNI；VF 分配看设备插件，业务转发看 VPP。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451866" y="6511925"/>
              <a:ext cx="4716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示意省略控制器中间对象；同一 Pod 可包含多个容器，镜像仓库不负责调度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492240" cy="586740"/>
            <a:chOff x="441960" y="393700"/>
            <a:chExt cx="64922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基础部署：先渲染，再安装，再确认</a:t>
              </a:r>
            </a:p>
          </p:txBody>
        </p:sp>
      </p:grpSp>
      <p:grpSp>
        <p:nvGrpSpPr>
          <p:cNvPr id="7" name="render-manifest"/>
          <p:cNvGrpSpPr/>
          <p:nvPr/>
        </p:nvGrpSpPr>
        <p:grpSpPr>
          <a:xfrm>
            <a:off x="446532" y="1581150"/>
            <a:ext cx="11288268" cy="1123950"/>
            <a:chOff x="446532" y="1581150"/>
            <a:chExt cx="11288268" cy="1123950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746250"/>
              <a:ext cx="12850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看清单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2428875" y="1581150"/>
              <a:ext cx="9305925" cy="112395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658618" y="1708150"/>
              <a:ext cx="4972622" cy="703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helm template xcn ./helm/xcn -n xcn \</a:t>
              </a:r>
              <a:b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-f lab-values.yaml &gt; /tmp/xcn-rendered.yaml</a:t>
              </a:r>
            </a:p>
          </p:txBody>
        </p:sp>
      </p:grpSp>
      <p:grpSp>
        <p:nvGrpSpPr>
          <p:cNvPr id="11" name="install-release"/>
          <p:cNvGrpSpPr/>
          <p:nvPr/>
        </p:nvGrpSpPr>
        <p:grpSpPr>
          <a:xfrm>
            <a:off x="446532" y="3105150"/>
            <a:ext cx="11288268" cy="1123950"/>
            <a:chOff x="446532" y="3105150"/>
            <a:chExt cx="11288268" cy="1123950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270250"/>
              <a:ext cx="19090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安装 / 更新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28875" y="3105150"/>
              <a:ext cx="9305925" cy="1123950"/>
            </a:xfrm>
            <a:prstGeom prst="roundRect">
              <a:avLst>
                <a:gd name="adj" fmla="val 5085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58618" y="3232150"/>
              <a:ext cx="5318379" cy="703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helm upgrade --install xcn ./helm/xcn -n xcn \</a:t>
              </a:r>
              <a:b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--create-namespace -f lab-values.yaml</a:t>
              </a:r>
            </a:p>
          </p:txBody>
        </p:sp>
      </p:grpSp>
      <p:grpSp>
        <p:nvGrpSpPr>
          <p:cNvPr id="15" name="verify-pods"/>
          <p:cNvGrpSpPr/>
          <p:nvPr/>
        </p:nvGrpSpPr>
        <p:grpSpPr>
          <a:xfrm>
            <a:off x="446532" y="4629150"/>
            <a:ext cx="11288268" cy="933450"/>
            <a:chOff x="446532" y="4629150"/>
            <a:chExt cx="11288268" cy="933450"/>
          </a:xfrm>
        </p:grpSpPr>
        <p:sp>
          <p:nvSpPr>
            <p:cNvPr id="12" name="TextBox 12"/>
            <p:cNvSpPr txBox="1"/>
            <p:nvPr/>
          </p:nvSpPr>
          <p:spPr>
            <a:xfrm>
              <a:off x="446532" y="4794250"/>
              <a:ext cx="12850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看结果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28875" y="4629150"/>
              <a:ext cx="9305925" cy="933450"/>
            </a:xfrm>
            <a:prstGeom prst="roundRect">
              <a:avLst>
                <a:gd name="adj" fmla="val 61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58618" y="4968875"/>
              <a:ext cx="38039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kubectl -n xcn get pods -o wide</a:t>
              </a:r>
            </a:p>
          </p:txBody>
        </p:sp>
      </p:grpSp>
      <p:grpSp>
        <p:nvGrpSpPr>
          <p:cNvPr id="17" name="deployment-condition"/>
          <p:cNvGrpSpPr/>
          <p:nvPr/>
        </p:nvGrpSpPr>
        <p:grpSpPr>
          <a:xfrm>
            <a:off x="448056" y="5975350"/>
            <a:ext cx="8222285" cy="352044"/>
            <a:chOff x="448056" y="5975350"/>
            <a:chExt cx="8222285" cy="352044"/>
          </a:xfrm>
        </p:grpSpPr>
        <p:sp>
          <p:nvSpPr>
            <p:cNvPr id="16" name="TextBox 16"/>
            <p:cNvSpPr txBox="1"/>
            <p:nvPr/>
          </p:nvSpPr>
          <p:spPr>
            <a:xfrm>
              <a:off x="448056" y="5975350"/>
              <a:ext cx="8222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实验部署：先准备 lab-values.yaml，并核对地址、镜像、CPU 和 VF 资源。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451866" y="6511925"/>
              <a:ext cx="4025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执行位置：Open5GS 仓库根目录；安装步骤会修改对应 Release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527025" cy="586740"/>
            <a:chOff x="441960" y="393700"/>
            <a:chExt cx="6527025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5270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失败：先状态，再事件，再日志</a:t>
              </a:r>
            </a:p>
          </p:txBody>
        </p:sp>
      </p:grpSp>
      <p:grpSp>
        <p:nvGrpSpPr>
          <p:cNvPr id="8" name="get-state"/>
          <p:cNvGrpSpPr/>
          <p:nvPr/>
        </p:nvGrpSpPr>
        <p:grpSpPr>
          <a:xfrm>
            <a:off x="446532" y="1524000"/>
            <a:ext cx="11288268" cy="933450"/>
            <a:chOff x="446532" y="1524000"/>
            <a:chExt cx="11288268" cy="933450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574800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get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8056" y="20415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在哪一层卡住？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2667000" y="1524000"/>
              <a:ext cx="9067800" cy="933450"/>
            </a:xfrm>
            <a:prstGeom prst="roundRect">
              <a:avLst>
                <a:gd name="adj" fmla="val 61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96743" y="1863725"/>
              <a:ext cx="38039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kubectl -n xcn get pods -o wide</a:t>
              </a:r>
            </a:p>
          </p:txBody>
        </p:sp>
      </p:grpSp>
      <p:grpSp>
        <p:nvGrpSpPr>
          <p:cNvPr id="13" name="describe-events"/>
          <p:cNvGrpSpPr/>
          <p:nvPr/>
        </p:nvGrpSpPr>
        <p:grpSpPr>
          <a:xfrm>
            <a:off x="446532" y="2905125"/>
            <a:ext cx="11288268" cy="933450"/>
            <a:chOff x="446532" y="2905125"/>
            <a:chExt cx="11288268" cy="933450"/>
          </a:xfrm>
        </p:grpSpPr>
        <p:sp>
          <p:nvSpPr>
            <p:cNvPr id="9" name="TextBox 9"/>
            <p:cNvSpPr txBox="1"/>
            <p:nvPr/>
          </p:nvSpPr>
          <p:spPr>
            <a:xfrm>
              <a:off x="446532" y="2955925"/>
              <a:ext cx="16687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describe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3422650"/>
              <a:ext cx="235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Events 为什么失败？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67000" y="2905125"/>
              <a:ext cx="9067800" cy="933450"/>
            </a:xfrm>
            <a:prstGeom prst="roundRect">
              <a:avLst>
                <a:gd name="adj" fmla="val 6122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96743" y="3244850"/>
              <a:ext cx="38296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kubectl -n xcn describe pod POD</a:t>
              </a:r>
            </a:p>
          </p:txBody>
        </p:sp>
      </p:grpSp>
      <p:grpSp>
        <p:nvGrpSpPr>
          <p:cNvPr id="18" name="read-logs"/>
          <p:cNvGrpSpPr/>
          <p:nvPr/>
        </p:nvGrpSpPr>
        <p:grpSpPr>
          <a:xfrm>
            <a:off x="446532" y="4286250"/>
            <a:ext cx="11288268" cy="1400175"/>
            <a:chOff x="446532" y="4286250"/>
            <a:chExt cx="11288268" cy="1400175"/>
          </a:xfrm>
        </p:grpSpPr>
        <p:sp>
          <p:nvSpPr>
            <p:cNvPr id="14" name="TextBox 14"/>
            <p:cNvSpPr txBox="1"/>
            <p:nvPr/>
          </p:nvSpPr>
          <p:spPr>
            <a:xfrm>
              <a:off x="446532" y="4337050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logs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48037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程序报了什么错？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4286250"/>
              <a:ext cx="9067800" cy="1400175"/>
            </a:xfrm>
            <a:prstGeom prst="roundRect">
              <a:avLst>
                <a:gd name="adj" fmla="val 40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96743" y="4394200"/>
              <a:ext cx="5894642" cy="818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kubectl -n xcn logs POD -c upf --tail=80</a:t>
              </a:r>
              <a:b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kubectl -n xcn logs POD -c upf --previous --tail=80</a:t>
              </a:r>
            </a:p>
          </p:txBody>
        </p:sp>
      </p:grpSp>
      <p:grpSp>
        <p:nvGrpSpPr>
          <p:cNvPr id="20" name="query-note"/>
          <p:cNvGrpSpPr/>
          <p:nvPr/>
        </p:nvGrpSpPr>
        <p:grpSpPr>
          <a:xfrm>
            <a:off x="448056" y="5994400"/>
            <a:ext cx="7826121" cy="352044"/>
            <a:chOff x="448056" y="5994400"/>
            <a:chExt cx="7826121" cy="352044"/>
          </a:xfrm>
        </p:grpSpPr>
        <p:sp>
          <p:nvSpPr>
            <p:cNvPr id="19" name="TextBox 19"/>
            <p:cNvSpPr txBox="1"/>
            <p:nvPr/>
          </p:nvSpPr>
          <p:spPr>
            <a:xfrm>
              <a:off x="448056" y="5994400"/>
              <a:ext cx="7826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POD 替换为实际名称；多容器指定 -c，前一次崩溃实例用 --previous。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451866" y="6511925"/>
              <a:ext cx="38252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这三步先收集证据；Pod 未创建成功时没有可读取的应用日志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4472940" cy="586740"/>
            <a:chOff x="441960" y="393700"/>
            <a:chExt cx="44729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按状态分支，不要先重装</a:t>
              </a:r>
            </a:p>
          </p:txBody>
        </p:sp>
      </p:grpSp>
      <p:grpSp>
        <p:nvGrpSpPr>
          <p:cNvPr id="32" name="pod-state-tree"/>
          <p:cNvGrpSpPr/>
          <p:nvPr/>
        </p:nvGrpSpPr>
        <p:grpSpPr>
          <a:xfrm>
            <a:off x="457200" y="1543050"/>
            <a:ext cx="11277600" cy="3838575"/>
            <a:chOff x="457200" y="1543050"/>
            <a:chExt cx="11277600" cy="3838575"/>
          </a:xfrm>
        </p:grpSpPr>
        <p:sp>
          <p:nvSpPr>
            <p:cNvPr id="4" name="Rectangle 4"/>
            <p:cNvSpPr/>
            <p:nvPr/>
          </p:nvSpPr>
          <p:spPr>
            <a:xfrm>
              <a:off x="4476750" y="1543050"/>
              <a:ext cx="3238500" cy="704850"/>
            </a:xfrm>
            <a:prstGeom prst="roundRect">
              <a:avLst>
                <a:gd name="adj" fmla="val 81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076539" y="1727200"/>
              <a:ext cx="20389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Pod 状态 / 就绪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24790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90700" y="2638425"/>
              <a:ext cx="8591550" cy="9525"/>
            </a:xfrm>
            <a:custGeom>
              <a:avLst/>
              <a:gdLst/>
              <a:ahLst/>
              <a:cxnLst/>
              <a:rect l="l" t="t" r="r" b="b"/>
              <a:pathLst>
                <a:path w="8591550" h="9525">
                  <a:moveTo>
                    <a:pt x="0" y="0"/>
                  </a:moveTo>
                  <a:lnTo>
                    <a:pt x="85915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790700" y="2638425"/>
              <a:ext cx="1" cy="4095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4648200" y="2638425"/>
              <a:ext cx="1" cy="4095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7524750" y="2638425"/>
              <a:ext cx="1" cy="4095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10382250" y="2638425"/>
              <a:ext cx="1" cy="4095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3048000"/>
              <a:ext cx="2667000" cy="2333625"/>
            </a:xfrm>
            <a:prstGeom prst="roundRect">
              <a:avLst>
                <a:gd name="adj" fmla="val 24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59111" y="3282950"/>
              <a:ext cx="86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Pending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3666" y="3851275"/>
              <a:ext cx="16140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 Events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2759" y="4356100"/>
              <a:ext cx="1795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 / CPU / VF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1413" y="4854575"/>
              <a:ext cx="9385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describe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14700" y="3048000"/>
              <a:ext cx="2667000" cy="2333625"/>
            </a:xfrm>
            <a:prstGeom prst="roundRect">
              <a:avLst>
                <a:gd name="adj" fmla="val 24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40481" y="3282950"/>
              <a:ext cx="2015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ImagePullBackOff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72128" y="38512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先看镜像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33445" y="435610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名称 / 凭据 / 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69857" y="4854575"/>
              <a:ext cx="7566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Events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91250" y="3048000"/>
              <a:ext cx="2667000" cy="2333625"/>
            </a:xfrm>
            <a:prstGeom prst="roundRect">
              <a:avLst>
                <a:gd name="adj" fmla="val 24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1985" y="3282950"/>
              <a:ext cx="21455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CrashLoopBackOff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8678" y="38512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先看日志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49326" y="43561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启动参数 / 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83407" y="4854575"/>
              <a:ext cx="16826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logs --previous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48750" y="3048000"/>
              <a:ext cx="2686050" cy="2333625"/>
            </a:xfrm>
            <a:prstGeom prst="roundRect">
              <a:avLst>
                <a:gd name="adj" fmla="val 24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30949" y="3282950"/>
              <a:ext cx="13216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Running 0/1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15703" y="38512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先看就绪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77020" y="435610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探针 / 监听 / 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58121" y="4854575"/>
              <a:ext cx="10673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Readiness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446532" y="5946775"/>
            <a:ext cx="7634935" cy="410718"/>
            <a:chOff x="446532" y="5946775"/>
            <a:chExt cx="7634935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446532" y="5946775"/>
              <a:ext cx="76349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状态帮助选择证据；Running 也不代表业务端到端已经连通。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451866" y="6511925"/>
              <a:ext cx="4405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状态示例；具体结论以 describe / Events / 当前与历史日志交叉确认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965850" cy="586740"/>
            <a:chOff x="441960" y="393700"/>
            <a:chExt cx="596585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9658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例：Pending，因为 VF 资源不够</a:t>
              </a:r>
            </a:p>
          </p:txBody>
        </p:sp>
      </p:grpSp>
      <p:grpSp>
        <p:nvGrpSpPr>
          <p:cNvPr id="7" name="event-evidence"/>
          <p:cNvGrpSpPr/>
          <p:nvPr/>
        </p:nvGrpSpPr>
        <p:grpSpPr>
          <a:xfrm>
            <a:off x="457200" y="1447800"/>
            <a:ext cx="11277600" cy="933450"/>
            <a:chOff x="457200" y="1447800"/>
            <a:chExt cx="11277600" cy="933450"/>
          </a:xfrm>
        </p:grpSpPr>
        <p:sp>
          <p:nvSpPr>
            <p:cNvPr id="4" name="Rectangle 4"/>
            <p:cNvSpPr/>
            <p:nvPr/>
          </p:nvSpPr>
          <p:spPr>
            <a:xfrm>
              <a:off x="457200" y="1447800"/>
              <a:ext cx="11277600" cy="933450"/>
            </a:xfrm>
            <a:prstGeom prst="roundRect">
              <a:avLst>
                <a:gd name="adj" fmla="val 6122"/>
              </a:avLst>
            </a:prstGeom>
            <a:solidFill>
              <a:srgbClr val="FFF1E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9130" y="1631950"/>
              <a:ext cx="2396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F3F3F"/>
                  </a:solidFill>
                  <a:latin typeface="+mn-lt"/>
                  <a:ea typeface="+mn-ea"/>
                  <a:cs typeface="+mn-cs"/>
                </a:rPr>
                <a:t>教学示例 · Events 的证据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8368" y="1978025"/>
              <a:ext cx="4789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Insufficient intel.com/external_network</a:t>
              </a:r>
            </a:p>
          </p:txBody>
        </p:sp>
      </p:grpSp>
      <p:grpSp>
        <p:nvGrpSpPr>
          <p:cNvPr id="19" name="resource-trace"/>
          <p:cNvGrpSpPr/>
          <p:nvPr/>
        </p:nvGrpSpPr>
        <p:grpSpPr>
          <a:xfrm>
            <a:off x="457200" y="2838450"/>
            <a:ext cx="11277600" cy="1314450"/>
            <a:chOff x="457200" y="2838450"/>
            <a:chExt cx="11277600" cy="1314450"/>
          </a:xfrm>
        </p:grpSpPr>
        <p:sp>
          <p:nvSpPr>
            <p:cNvPr id="8" name="Line 8"/>
            <p:cNvSpPr/>
            <p:nvPr/>
          </p:nvSpPr>
          <p:spPr>
            <a:xfrm>
              <a:off x="3619500" y="3476625"/>
              <a:ext cx="8572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7667625" y="3476625"/>
              <a:ext cx="8572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7200" y="2838450"/>
              <a:ext cx="3162300" cy="131445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5484" y="3013075"/>
              <a:ext cx="18257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requests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5310" y="35655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请求多少、资源名对不对？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2838450"/>
              <a:ext cx="3190875" cy="1314450"/>
            </a:xfrm>
            <a:prstGeom prst="roundRect">
              <a:avLst>
                <a:gd name="adj" fmla="val 4348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950059" y="3013075"/>
              <a:ext cx="22347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Node allocatable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46701" y="35655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节点发布的可分配上限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24875" y="2838450"/>
              <a:ext cx="3209925" cy="131445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26004" y="3013075"/>
              <a:ext cx="21981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已分配 requests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0076" y="3565525"/>
              <a:ext cx="22699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哪些 Pod 已经占用？</a:t>
              </a:r>
            </a:p>
          </p:txBody>
        </p:sp>
      </p:grpSp>
      <p:grpSp>
        <p:nvGrpSpPr>
          <p:cNvPr id="22" name="node-inspection"/>
          <p:cNvGrpSpPr/>
          <p:nvPr/>
        </p:nvGrpSpPr>
        <p:grpSpPr>
          <a:xfrm>
            <a:off x="457200" y="4572000"/>
            <a:ext cx="11277600" cy="933450"/>
            <a:chOff x="457200" y="4572000"/>
            <a:chExt cx="11277600" cy="933450"/>
          </a:xfrm>
        </p:grpSpPr>
        <p:sp>
          <p:nvSpPr>
            <p:cNvPr id="20" name="Rectangle 20"/>
            <p:cNvSpPr/>
            <p:nvPr/>
          </p:nvSpPr>
          <p:spPr>
            <a:xfrm>
              <a:off x="457200" y="4572000"/>
              <a:ext cx="11277600" cy="933450"/>
            </a:xfrm>
            <a:prstGeom prst="roundRect">
              <a:avLst>
                <a:gd name="adj" fmla="val 61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418" y="4892675"/>
              <a:ext cx="4048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kubectl describe node xnet-server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446532" y="5937250"/>
            <a:ext cx="7258507" cy="410718"/>
            <a:chOff x="446532" y="5937250"/>
            <a:chExt cx="7258507" cy="410718"/>
          </a:xfrm>
        </p:grpSpPr>
        <p:sp>
          <p:nvSpPr>
            <p:cNvPr id="23" name="TextBox 23"/>
            <p:cNvSpPr txBox="1"/>
            <p:nvPr/>
          </p:nvSpPr>
          <p:spPr>
            <a:xfrm>
              <a:off x="446532" y="5937250"/>
              <a:ext cx="7258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allocatable 不是实时剩余量；先看证据，再改资源请求。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451866" y="6511925"/>
              <a:ext cx="4601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示例不是当前运行故障；VF 健康、节点选择与其他调度约束也会影响结果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502908" cy="586740"/>
            <a:chOff x="441960" y="393700"/>
            <a:chExt cx="6502908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50290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k9s / Kuboard：沿着同一条诊断链</a:t>
              </a:r>
            </a:p>
          </p:txBody>
        </p:sp>
      </p:grpSp>
      <p:grpSp>
        <p:nvGrpSpPr>
          <p:cNvPr id="25" name="interfaces-and-evidence"/>
          <p:cNvGrpSpPr/>
          <p:nvPr/>
        </p:nvGrpSpPr>
        <p:grpSpPr>
          <a:xfrm>
            <a:off x="457200" y="1790700"/>
            <a:ext cx="11277600" cy="3352800"/>
            <a:chOff x="457200" y="1790700"/>
            <a:chExt cx="11277600" cy="3352800"/>
          </a:xfrm>
        </p:grpSpPr>
        <p:sp>
          <p:nvSpPr>
            <p:cNvPr id="4" name="Line 4"/>
            <p:cNvSpPr/>
            <p:nvPr/>
          </p:nvSpPr>
          <p:spPr>
            <a:xfrm>
              <a:off x="4095750" y="2476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667250" y="247650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4667250" y="3476625"/>
              <a:ext cx="71437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44481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667250" y="3476625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9715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429500" y="34766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0" y="2476500"/>
              <a:ext cx="9525" cy="1981200"/>
            </a:xfrm>
            <a:custGeom>
              <a:avLst/>
              <a:gdLst/>
              <a:ahLst/>
              <a:cxnLst/>
              <a:rect l="l" t="t" r="r" b="b"/>
              <a:pathLst>
                <a:path w="9525" h="1981200">
                  <a:moveTo>
                    <a:pt x="0" y="0"/>
                  </a:moveTo>
                  <a:lnTo>
                    <a:pt x="0" y="19812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096250" y="2476500"/>
              <a:ext cx="10001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8096250" y="4457700"/>
              <a:ext cx="10001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57200" y="1790700"/>
              <a:ext cx="3638550" cy="1381125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3608" y="1955800"/>
              <a:ext cx="22666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k9s · 终端入口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7418" y="2530475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k9s -n xcn --readonly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3762375"/>
              <a:ext cx="3638550" cy="1381125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3608" y="3927475"/>
              <a:ext cx="31236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Kuboard · Web 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6656" y="4489450"/>
              <a:ext cx="3215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Namespace → 工作负载 → Pod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81625" y="3000375"/>
              <a:ext cx="2047875" cy="952500"/>
            </a:xfrm>
            <a:prstGeom prst="roundRect">
              <a:avLst>
                <a:gd name="adj" fmla="val 6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83022" y="3279775"/>
              <a:ext cx="16355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 Pod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96375" y="2000250"/>
              <a:ext cx="2638425" cy="952500"/>
            </a:xfrm>
            <a:prstGeom prst="roundRect">
              <a:avLst>
                <a:gd name="adj" fmla="val 6000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82509" y="2298700"/>
              <a:ext cx="18566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Events · 事件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096375" y="3981450"/>
              <a:ext cx="2638425" cy="952500"/>
            </a:xfrm>
            <a:prstGeom prst="roundRect">
              <a:avLst>
                <a:gd name="adj" fmla="val 6000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37228" y="4279900"/>
              <a:ext cx="15471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Logs · 日志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446532" y="5927725"/>
            <a:ext cx="7537298" cy="410718"/>
            <a:chOff x="446532" y="5927725"/>
            <a:chExt cx="7537298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446532" y="5927725"/>
              <a:ext cx="75372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界面帮助找证据；k9s 先按 ?，并确认 Namespace 和容器。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451866" y="6511925"/>
              <a:ext cx="3988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Kuboard 为通用工作流示意；实际访问与操作权限受 RBAC 约束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578194" cy="586740"/>
            <a:chOff x="441960" y="393700"/>
            <a:chExt cx="6578194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5781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NFVI：CPU 与 VF 都是被分配的资源</a:t>
              </a:r>
            </a:p>
          </p:txBody>
        </p:sp>
      </p:grpSp>
      <p:grpSp>
        <p:nvGrpSpPr>
          <p:cNvPr id="27" name="resource-pools"/>
          <p:cNvGrpSpPr/>
          <p:nvPr/>
        </p:nvGrpSpPr>
        <p:grpSpPr>
          <a:xfrm>
            <a:off x="457200" y="1571625"/>
            <a:ext cx="11068050" cy="3714750"/>
            <a:chOff x="457200" y="1571625"/>
            <a:chExt cx="11068050" cy="3714750"/>
          </a:xfrm>
        </p:grpSpPr>
        <p:sp>
          <p:nvSpPr>
            <p:cNvPr id="4" name="Rectangle 4"/>
            <p:cNvSpPr/>
            <p:nvPr/>
          </p:nvSpPr>
          <p:spPr>
            <a:xfrm>
              <a:off x="457200" y="1571625"/>
              <a:ext cx="5238750" cy="3714750"/>
            </a:xfrm>
            <a:prstGeom prst="roundRect">
              <a:avLst>
                <a:gd name="adj" fmla="val 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5132" y="1717675"/>
              <a:ext cx="17001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计算 / NUMA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0560" y="2346325"/>
              <a:ext cx="1835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72 物理核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0560" y="2917825"/>
              <a:ext cx="25388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144 逻辑 CPU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5132" y="3670300"/>
              <a:ext cx="3133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隔离池：126 个逻辑 CPU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4232275"/>
              <a:ext cx="34155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个 NUMA 节点，关注本地访问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4746625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CPUSet 分配后核对实际亲和性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0" y="1619250"/>
              <a:ext cx="2667000" cy="857250"/>
            </a:xfrm>
            <a:prstGeom prst="roundRect">
              <a:avLst>
                <a:gd name="adj" fmla="val 666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31886" y="1870075"/>
              <a:ext cx="18242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物理网口 / PF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0" y="247650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524750" y="2809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524750" y="2809875"/>
              <a:ext cx="1" cy="3333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10572750" y="2809875"/>
              <a:ext cx="1" cy="3333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572250" y="3143250"/>
              <a:ext cx="1905000" cy="7429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86752" y="3362325"/>
              <a:ext cx="875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VF · N3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620250" y="3143250"/>
              <a:ext cx="1905000" cy="7429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34752" y="3362325"/>
              <a:ext cx="875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VF · N6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524750" y="3886200"/>
              <a:ext cx="1" cy="6381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10572750" y="3886200"/>
              <a:ext cx="1" cy="638175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72250" y="4524375"/>
              <a:ext cx="4953000" cy="762000"/>
            </a:xfrm>
            <a:prstGeom prst="roundRect">
              <a:avLst>
                <a:gd name="adj" fmla="val 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05890" y="4746625"/>
              <a:ext cx="30857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VPP 容器 · 请求 2 个 VF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695950" y="4905375"/>
              <a:ext cx="8763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4630" y="4032250"/>
              <a:ext cx="2165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SR-IOV / 设备插件分配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446532" y="5927725"/>
            <a:ext cx="7363054" cy="410718"/>
            <a:chOff x="446532" y="5927725"/>
            <a:chExt cx="7363054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446532" y="5927725"/>
              <a:ext cx="73630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逻辑 CPU 不等于物理核；多个 VF 仍共享 PF 的物理带宽。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451866" y="6511925"/>
              <a:ext cx="5779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xnet-server 参考快照 · 2026-10-25；VF 仅画出分给 XCN 的两个，PF 实际还可有其他 VF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4472940" cy="586740"/>
            <a:chOff x="441960" y="393700"/>
            <a:chExt cx="44729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先看协商速率，再谈吞吐</a:t>
              </a:r>
            </a:p>
          </p:txBody>
        </p:sp>
      </p:grpSp>
      <p:grpSp>
        <p:nvGrpSpPr>
          <p:cNvPr id="9" name="observed-speed"/>
          <p:cNvGrpSpPr/>
          <p:nvPr/>
        </p:nvGrpSpPr>
        <p:grpSpPr>
          <a:xfrm>
            <a:off x="438150" y="1717675"/>
            <a:ext cx="3591763" cy="3331845"/>
            <a:chOff x="438150" y="1717675"/>
            <a:chExt cx="3591763" cy="3331845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717675"/>
              <a:ext cx="32325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网卡型号：X710 · 10GbE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8150" y="2482850"/>
              <a:ext cx="279259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Gbps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3689350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ens5f0 当时的实际链路速率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4248150"/>
              <a:ext cx="29434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Full · Link detected: yes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4756150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参考快照：2026-10-25</a:t>
              </a:r>
            </a:p>
          </p:txBody>
        </p:sp>
      </p:grpSp>
      <p:grpSp>
        <p:nvGrpSpPr>
          <p:cNvPr id="14" name="nic-query"/>
          <p:cNvGrpSpPr/>
          <p:nvPr/>
        </p:nvGrpSpPr>
        <p:grpSpPr>
          <a:xfrm>
            <a:off x="6409182" y="1889125"/>
            <a:ext cx="5325618" cy="2771394"/>
            <a:chOff x="6409182" y="1889125"/>
            <a:chExt cx="5325618" cy="2771394"/>
          </a:xfrm>
        </p:grpSpPr>
        <p:sp>
          <p:nvSpPr>
            <p:cNvPr id="10" name="TextBox 10"/>
            <p:cNvSpPr txBox="1"/>
            <p:nvPr/>
          </p:nvSpPr>
          <p:spPr>
            <a:xfrm>
              <a:off x="6409182" y="18891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现场只读查询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19850" y="2476500"/>
              <a:ext cx="5314950" cy="1504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9118" y="2559050"/>
              <a:ext cx="1976056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ethtool -i ens5f0</a:t>
              </a:r>
              <a:b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ethtool ens5f0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0706" y="4308475"/>
              <a:ext cx="40108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型号 / 驱动 / Speed / Duplex / Link</a:t>
              </a:r>
            </a:p>
          </p:txBody>
        </p:sp>
      </p:grpSp>
      <p:grpSp>
        <p:nvGrpSpPr>
          <p:cNvPr id="16" name="takeaway"/>
          <p:cNvGrpSpPr/>
          <p:nvPr/>
        </p:nvGrpSpPr>
        <p:grpSpPr>
          <a:xfrm>
            <a:off x="446532" y="5851525"/>
            <a:ext cx="5477485" cy="410718"/>
            <a:chOff x="446532" y="5851525"/>
            <a:chExt cx="5477485" cy="410718"/>
          </a:xfrm>
        </p:grpSpPr>
        <p:sp>
          <p:nvSpPr>
            <p:cNvPr id="15" name="TextBox 15"/>
            <p:cNvSpPr txBox="1"/>
            <p:nvPr/>
          </p:nvSpPr>
          <p:spPr>
            <a:xfrm>
              <a:off x="446532" y="5851525"/>
              <a:ext cx="5477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型号标称 ≠ 当前链路速率 ≠ 应用有效吞吐。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451866" y="6511925"/>
              <a:ext cx="5031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VF 共用 PF 带宽；吞吐还受 CPU、MTU、丢包、队列、QoS 和真实测试路径影响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6340792" cy="586740"/>
            <a:chOff x="441960" y="393700"/>
            <a:chExt cx="6340792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63407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iperf：先选端点，再选方向与协议</a:t>
              </a:r>
            </a:p>
          </p:txBody>
        </p:sp>
      </p:grpSp>
      <p:grpSp>
        <p:nvGrpSpPr>
          <p:cNvPr id="7" name="dn-server"/>
          <p:cNvGrpSpPr/>
          <p:nvPr/>
        </p:nvGrpSpPr>
        <p:grpSpPr>
          <a:xfrm>
            <a:off x="448056" y="1536700"/>
            <a:ext cx="6333744" cy="815975"/>
            <a:chOff x="448056" y="1536700"/>
            <a:chExt cx="6333744" cy="815975"/>
          </a:xfrm>
        </p:grpSpPr>
        <p:sp>
          <p:nvSpPr>
            <p:cNvPr id="4" name="TextBox 4"/>
            <p:cNvSpPr txBox="1"/>
            <p:nvPr/>
          </p:nvSpPr>
          <p:spPr>
            <a:xfrm>
              <a:off x="448056" y="1536700"/>
              <a:ext cx="13501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 · 服务端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457200" y="1914525"/>
              <a:ext cx="63246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29793" y="200660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iperf3 -s</a:t>
              </a:r>
            </a:p>
          </p:txBody>
        </p:sp>
      </p:grpSp>
      <p:grpSp>
        <p:nvGrpSpPr>
          <p:cNvPr id="11" name="client-commands"/>
          <p:cNvGrpSpPr/>
          <p:nvPr/>
        </p:nvGrpSpPr>
        <p:grpSpPr>
          <a:xfrm>
            <a:off x="448056" y="2755900"/>
            <a:ext cx="6333744" cy="2540000"/>
            <a:chOff x="448056" y="2755900"/>
            <a:chExt cx="6333744" cy="2540000"/>
          </a:xfrm>
        </p:grpSpPr>
        <p:sp>
          <p:nvSpPr>
            <p:cNvPr id="8" name="TextBox 8"/>
            <p:cNvSpPr txBox="1"/>
            <p:nvPr/>
          </p:nvSpPr>
          <p:spPr>
            <a:xfrm>
              <a:off x="448056" y="2755900"/>
              <a:ext cx="2141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业务侧 · 客户端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57200" y="3162300"/>
              <a:ext cx="63246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793" y="3260725"/>
              <a:ext cx="3474339" cy="15228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DN_IP=198.51.100.10</a:t>
              </a:r>
            </a:p>
            <a:p>
              <a:pPr algn="l">
                <a:lnSpc>
                  <a:spcPts val="2700"/>
                </a:lnSpc>
                <a:spcBef>
                  <a:spcPts val="675"/>
                </a:spcBef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iperf3 -c "$DN_IP" -t 20</a:t>
              </a:r>
            </a:p>
            <a:p>
              <a:pPr algn="l">
                <a:lnSpc>
                  <a:spcPts val="2700"/>
                </a:lnSpc>
                <a:spcBef>
                  <a:spcPts val="675"/>
                </a:spcBef>
              </a:pP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iperf3 -c "$DN_IP" -u -b 10M \</a:t>
              </a:r>
              <a:b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-l 1200 -t 20</a:t>
              </a:r>
            </a:p>
          </p:txBody>
        </p:sp>
      </p:grpSp>
      <p:grpSp>
        <p:nvGrpSpPr>
          <p:cNvPr id="22" name="directions"/>
          <p:cNvGrpSpPr/>
          <p:nvPr/>
        </p:nvGrpSpPr>
        <p:grpSpPr>
          <a:xfrm>
            <a:off x="7334250" y="2108200"/>
            <a:ext cx="4400550" cy="2790444"/>
            <a:chOff x="7334250" y="2108200"/>
            <a:chExt cx="4400550" cy="2790444"/>
          </a:xfrm>
        </p:grpSpPr>
        <p:sp>
          <p:nvSpPr>
            <p:cNvPr id="12" name="Rectangle 12"/>
            <p:cNvSpPr/>
            <p:nvPr/>
          </p:nvSpPr>
          <p:spPr>
            <a:xfrm>
              <a:off x="7334250" y="2143125"/>
              <a:ext cx="1562100" cy="2286000"/>
            </a:xfrm>
            <a:prstGeom prst="roundRect">
              <a:avLst>
                <a:gd name="adj" fmla="val 3659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71486" y="2936875"/>
              <a:ext cx="1287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业务侧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04785" y="3441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287000" y="2143125"/>
              <a:ext cx="1447800" cy="22860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35945" y="293687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00385" y="3441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服务端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896350" y="2619375"/>
              <a:ext cx="13906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93530" y="21082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上行</a:t>
              </a:r>
            </a:p>
          </p:txBody>
        </p:sp>
        <p:sp>
          <p:nvSpPr>
            <p:cNvPr id="20" name="Line 20"/>
            <p:cNvSpPr/>
            <p:nvPr/>
          </p:nvSpPr>
          <p:spPr>
            <a:xfrm flipH="1">
              <a:off x="8896350" y="4000500"/>
              <a:ext cx="13906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06281" y="4546600"/>
              <a:ext cx="1588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下行：追加 -R</a:t>
              </a:r>
            </a:p>
          </p:txBody>
        </p:sp>
      </p:grpSp>
      <p:grpSp>
        <p:nvGrpSpPr>
          <p:cNvPr id="24" name="iperf2-difference"/>
          <p:cNvGrpSpPr/>
          <p:nvPr/>
        </p:nvGrpSpPr>
        <p:grpSpPr>
          <a:xfrm>
            <a:off x="448056" y="5880100"/>
            <a:ext cx="8378190" cy="352044"/>
            <a:chOff x="448056" y="5880100"/>
            <a:chExt cx="8378190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448056" y="5880100"/>
              <a:ext cx="83781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iperf2 用 iperf（默认 5001）；iperf3 默认 5201，双方版本家族必须一致。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451866" y="6511925"/>
              <a:ext cx="59035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教学地址 · 每条测试单独运行；UDP 先低速，关注接收端；-R 改数据方向，客户端仍发起连接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684520" cy="586740"/>
            <a:chOff x="441960" y="393700"/>
            <a:chExt cx="568452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业务不通：沿数据路径逐层定位</a:t>
              </a:r>
            </a:p>
          </p:txBody>
        </p:sp>
      </p:grpSp>
      <p:grpSp>
        <p:nvGrpSpPr>
          <p:cNvPr id="28" name="diagnostic-stations"/>
          <p:cNvGrpSpPr/>
          <p:nvPr/>
        </p:nvGrpSpPr>
        <p:grpSpPr>
          <a:xfrm>
            <a:off x="457200" y="1952625"/>
            <a:ext cx="11277600" cy="2095500"/>
            <a:chOff x="457200" y="1952625"/>
            <a:chExt cx="11277600" cy="2095500"/>
          </a:xfrm>
        </p:grpSpPr>
        <p:sp>
          <p:nvSpPr>
            <p:cNvPr id="4" name="Line 4"/>
            <p:cNvSpPr/>
            <p:nvPr/>
          </p:nvSpPr>
          <p:spPr>
            <a:xfrm>
              <a:off x="2362200" y="3000375"/>
              <a:ext cx="4000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" name="Line 5"/>
            <p:cNvSpPr/>
            <p:nvPr/>
          </p:nvSpPr>
          <p:spPr>
            <a:xfrm>
              <a:off x="4667250" y="3000375"/>
              <a:ext cx="4286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7000875" y="3000375"/>
              <a:ext cx="4286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9334500" y="3000375"/>
              <a:ext cx="4953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952625"/>
              <a:ext cx="1905000" cy="2095500"/>
            </a:xfrm>
            <a:prstGeom prst="roundRect">
              <a:avLst>
                <a:gd name="adj" fmla="val 3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1018" y="22193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080" y="2698750"/>
              <a:ext cx="13932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/ 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766" y="33464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事件与日志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1952625"/>
              <a:ext cx="1905000" cy="2095500"/>
            </a:xfrm>
            <a:prstGeom prst="roundRect">
              <a:avLst>
                <a:gd name="adj" fmla="val 3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96068" y="22193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03753" y="2698750"/>
              <a:ext cx="10219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PF / VF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99816" y="33464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链路与邻居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95875" y="1952625"/>
              <a:ext cx="1905000" cy="2095500"/>
            </a:xfrm>
            <a:prstGeom prst="roundRect">
              <a:avLst>
                <a:gd name="adj" fmla="val 3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29694" y="22193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55234" y="2698750"/>
              <a:ext cx="11862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UE / PDU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33441" y="33464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接入与会话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429500" y="1952625"/>
              <a:ext cx="1905000" cy="2095500"/>
            </a:xfrm>
            <a:prstGeom prst="roundRect">
              <a:avLst>
                <a:gd name="adj" fmla="val 3000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3319" y="22193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70444" y="2698750"/>
              <a:ext cx="14231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 / NAT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7066" y="33464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去程与回程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829800" y="1952625"/>
              <a:ext cx="1905000" cy="2095500"/>
            </a:xfrm>
            <a:prstGeom prst="roundRect">
              <a:avLst>
                <a:gd name="adj" fmla="val 3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663618" y="22193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79837" y="2698750"/>
              <a:ext cx="10049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DN 应用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67366" y="33464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监听与端口</a:t>
              </a:r>
            </a:p>
          </p:txBody>
        </p:sp>
      </p:grpSp>
      <p:grpSp>
        <p:nvGrpSpPr>
          <p:cNvPr id="30" name="diagnostic-rule"/>
          <p:cNvGrpSpPr/>
          <p:nvPr/>
        </p:nvGrpSpPr>
        <p:grpSpPr>
          <a:xfrm>
            <a:off x="445008" y="4756150"/>
            <a:ext cx="7778496" cy="469392"/>
            <a:chOff x="445008" y="4756150"/>
            <a:chExt cx="7778496" cy="469392"/>
          </a:xfrm>
        </p:grpSpPr>
        <p:sp>
          <p:nvSpPr>
            <p:cNvPr id="29" name="TextBox 29"/>
            <p:cNvSpPr txBox="1"/>
            <p:nvPr/>
          </p:nvSpPr>
          <p:spPr>
            <a:xfrm>
              <a:off x="445008" y="475615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停在第一处不符合预期的位置，取证、修复，再复验。</a:t>
              </a:r>
            </a:p>
          </p:txBody>
        </p:sp>
      </p:grpSp>
      <p:grpSp>
        <p:nvGrpSpPr>
          <p:cNvPr id="32" name="performance-next"/>
          <p:cNvGrpSpPr/>
          <p:nvPr/>
        </p:nvGrpSpPr>
        <p:grpSpPr>
          <a:xfrm>
            <a:off x="446532" y="5842000"/>
            <a:ext cx="6849656" cy="410718"/>
            <a:chOff x="446532" y="5842000"/>
            <a:chExt cx="6849656" cy="410718"/>
          </a:xfrm>
        </p:grpSpPr>
        <p:sp>
          <p:nvSpPr>
            <p:cNvPr id="31" name="TextBox 31"/>
            <p:cNvSpPr txBox="1"/>
            <p:nvPr/>
          </p:nvSpPr>
          <p:spPr>
            <a:xfrm>
              <a:off x="446532" y="5842000"/>
              <a:ext cx="68496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连通之后再看性能：速率、MTU、CPU、NUMA、QoS。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451866" y="6511925"/>
              <a:ext cx="5233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排障检查顺序，不代表报文处理模块顺序；ping 正常不足以证明 TCP/UDP 应用正常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441960" y="393700"/>
            <a:ext cx="5684520" cy="586740"/>
            <a:chOff x="441960" y="393700"/>
            <a:chExt cx="568452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39370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带走三件事：路径、地址、证据</a:t>
              </a:r>
            </a:p>
          </p:txBody>
        </p:sp>
      </p:grpSp>
      <p:grpSp>
        <p:nvGrpSpPr>
          <p:cNvPr id="6" name="question-path"/>
          <p:cNvGrpSpPr/>
          <p:nvPr/>
        </p:nvGrpSpPr>
        <p:grpSpPr>
          <a:xfrm>
            <a:off x="446532" y="1698625"/>
            <a:ext cx="4192524" cy="867918"/>
            <a:chOff x="446532" y="1698625"/>
            <a:chExt cx="4192524" cy="867918"/>
          </a:xfrm>
        </p:grpSpPr>
        <p:sp>
          <p:nvSpPr>
            <p:cNvPr id="4" name="TextBox 4"/>
            <p:cNvSpPr txBox="1"/>
            <p:nvPr/>
          </p:nvSpPr>
          <p:spPr>
            <a:xfrm>
              <a:off x="446532" y="1698625"/>
              <a:ext cx="10023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路径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6532" y="2155825"/>
              <a:ext cx="41925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命中边缘 CIDR，还经过 UPF 吗？</a:t>
              </a:r>
            </a:p>
          </p:txBody>
        </p:sp>
      </p:grpSp>
      <p:grpSp>
        <p:nvGrpSpPr>
          <p:cNvPr id="9" name="question-ip"/>
          <p:cNvGrpSpPr/>
          <p:nvPr/>
        </p:nvGrpSpPr>
        <p:grpSpPr>
          <a:xfrm>
            <a:off x="446532" y="3079750"/>
            <a:ext cx="4250131" cy="867918"/>
            <a:chOff x="446532" y="3079750"/>
            <a:chExt cx="4250131" cy="867918"/>
          </a:xfrm>
        </p:grpSpPr>
        <p:sp>
          <p:nvSpPr>
            <p:cNvPr id="7" name="TextBox 7"/>
            <p:cNvSpPr txBox="1"/>
            <p:nvPr/>
          </p:nvSpPr>
          <p:spPr>
            <a:xfrm>
              <a:off x="446532" y="3079750"/>
              <a:ext cx="10023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地址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6532" y="3536950"/>
              <a:ext cx="42501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 下手机访问 DN，源地址是谁？</a:t>
              </a:r>
            </a:p>
          </p:txBody>
        </p:sp>
      </p:grpSp>
      <p:grpSp>
        <p:nvGrpSpPr>
          <p:cNvPr id="12" name="question-evidence"/>
          <p:cNvGrpSpPr/>
          <p:nvPr/>
        </p:nvGrpSpPr>
        <p:grpSpPr>
          <a:xfrm>
            <a:off x="446532" y="4460875"/>
            <a:ext cx="3869710" cy="867918"/>
            <a:chOff x="446532" y="4460875"/>
            <a:chExt cx="3869710" cy="867918"/>
          </a:xfrm>
        </p:grpSpPr>
        <p:sp>
          <p:nvSpPr>
            <p:cNvPr id="10" name="TextBox 10"/>
            <p:cNvSpPr txBox="1"/>
            <p:nvPr/>
          </p:nvSpPr>
          <p:spPr>
            <a:xfrm>
              <a:off x="446532" y="4460875"/>
              <a:ext cx="10023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532" y="4918075"/>
              <a:ext cx="38697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Pending，第一步看什么？</a:t>
              </a:r>
            </a:p>
          </p:txBody>
        </p:sp>
      </p:grpSp>
      <p:grpSp>
        <p:nvGrpSpPr>
          <p:cNvPr id="30" name="recap-network"/>
          <p:cNvGrpSpPr/>
          <p:nvPr/>
        </p:nvGrpSpPr>
        <p:grpSpPr>
          <a:xfrm>
            <a:off x="7667625" y="1809750"/>
            <a:ext cx="4067175" cy="3333750"/>
            <a:chOff x="7667625" y="1809750"/>
            <a:chExt cx="4067175" cy="3333750"/>
          </a:xfrm>
        </p:grpSpPr>
        <p:sp>
          <p:nvSpPr>
            <p:cNvPr id="13" name="Rectangle 13"/>
            <p:cNvSpPr/>
            <p:nvPr/>
          </p:nvSpPr>
          <p:spPr>
            <a:xfrm>
              <a:off x="7667625" y="2952750"/>
              <a:ext cx="1095375" cy="8001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10488" y="3086100"/>
              <a:ext cx="1000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Wi-Fi / 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40218" y="3416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下挂接入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763000" y="3352800"/>
              <a:ext cx="3810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44000" y="2952750"/>
              <a:ext cx="1095375" cy="800100"/>
            </a:xfrm>
            <a:prstGeom prst="roundRect">
              <a:avLst>
                <a:gd name="adj" fmla="val 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35465" y="32321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基站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239375" y="3238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429875" y="2238375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10001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429875" y="2238375"/>
              <a:ext cx="1905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620375" y="1809750"/>
              <a:ext cx="1114425" cy="857250"/>
            </a:xfrm>
            <a:prstGeom prst="roundRect">
              <a:avLst>
                <a:gd name="adj" fmla="val 6667"/>
              </a:avLst>
            </a:prstGeom>
            <a:solidFill>
              <a:srgbClr val="EAF2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862310" y="19558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49813" y="2301875"/>
              <a:ext cx="646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外部 DN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0239375" y="34766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429875" y="3476625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0429875" y="4714875"/>
              <a:ext cx="1905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620375" y="4286250"/>
              <a:ext cx="1114425" cy="857250"/>
            </a:xfrm>
            <a:prstGeom prst="roundRect">
              <a:avLst>
                <a:gd name="adj" fmla="val 6667"/>
              </a:avLst>
            </a:prstGeom>
            <a:solidFill>
              <a:srgbClr val="E7F4E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813923" y="4594225"/>
              <a:ext cx="71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边缘 DN</a:t>
              </a:r>
            </a:p>
          </p:txBody>
        </p:sp>
      </p:grpSp>
      <p:grpSp>
        <p:nvGrpSpPr>
          <p:cNvPr id="32" name="closing-line"/>
          <p:cNvGrpSpPr/>
          <p:nvPr/>
        </p:nvGrpSpPr>
        <p:grpSpPr>
          <a:xfrm>
            <a:off x="445008" y="5880100"/>
            <a:ext cx="7132320" cy="469392"/>
            <a:chOff x="445008" y="5880100"/>
            <a:chExt cx="7132320" cy="469392"/>
          </a:xfrm>
        </p:grpSpPr>
        <p:sp>
          <p:nvSpPr>
            <p:cNvPr id="31" name="TextBox 31"/>
            <p:cNvSpPr txBox="1"/>
            <p:nvPr/>
          </p:nvSpPr>
          <p:spPr>
            <a:xfrm>
              <a:off x="445008" y="588010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先认路径，再看地址，最后选择下一条取证命令。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451866" y="6511925"/>
            <a:ext cx="11288268" cy="205359"/>
            <a:chOff x="451866" y="6511925"/>
            <a:chExt cx="112882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451866" y="6511925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问答与现场复盘；三个问题的讲解答案已放入本页演讲者备注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5119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xcn_training_v2">
  <a:themeElements>
    <a:clrScheme name="xcn_training_v2">
      <a:dk1>
        <a:srgbClr val="233548"/>
      </a:dk1>
      <a:lt1>
        <a:srgbClr val="FFFFFF"/>
      </a:lt1>
      <a:dk2>
        <a:srgbClr val="1F497D"/>
      </a:dk2>
      <a:lt2>
        <a:srgbClr val="F2F6F9"/>
      </a:lt2>
      <a:accent1>
        <a:srgbClr val="15324F"/>
      </a:accent1>
      <a:accent2>
        <a:srgbClr val="147D6C"/>
      </a:accent2>
      <a:accent3>
        <a:srgbClr val="256DB0"/>
      </a:accent3>
      <a:accent4>
        <a:srgbClr val="15324F"/>
      </a:accent4>
      <a:accent5>
        <a:srgbClr val="617487"/>
      </a:accent5>
      <a:accent6>
        <a:srgbClr val="D4DEE7"/>
      </a:accent6>
      <a:hlink>
        <a:srgbClr val="147D6C"/>
      </a:hlink>
      <a:folHlink>
        <a:srgbClr val="256DB0"/>
      </a:folHlink>
    </a:clrScheme>
    <a:fontScheme name="xcn_training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cn_training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xcn_training_v2">
  <a:themeElements>
    <a:clrScheme name="xcn_training_v2">
      <a:dk1>
        <a:srgbClr val="233548"/>
      </a:dk1>
      <a:lt1>
        <a:srgbClr val="FFFFFF"/>
      </a:lt1>
      <a:dk2>
        <a:srgbClr val="1F497D"/>
      </a:dk2>
      <a:lt2>
        <a:srgbClr val="F2F6F9"/>
      </a:lt2>
      <a:accent1>
        <a:srgbClr val="15324F"/>
      </a:accent1>
      <a:accent2>
        <a:srgbClr val="147D6C"/>
      </a:accent2>
      <a:accent3>
        <a:srgbClr val="256DB0"/>
      </a:accent3>
      <a:accent4>
        <a:srgbClr val="15324F"/>
      </a:accent4>
      <a:accent5>
        <a:srgbClr val="617487"/>
      </a:accent5>
      <a:accent6>
        <a:srgbClr val="D4DEE7"/>
      </a:accent6>
      <a:hlink>
        <a:srgbClr val="147D6C"/>
      </a:hlink>
      <a:folHlink>
        <a:srgbClr val="256DB0"/>
      </a:folHlink>
    </a:clrScheme>
    <a:fontScheme name="xcn_training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cn_training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2026-10-25T17:31:43Z</dcterms:created>
  <dcterms:modified xsi:type="dcterms:W3CDTF">2026-10-25T17:31:43Z</dcterms:modified>
  <cp:category/>
  <cp:contentStatus/>
</cp:coreProperties>
</file>